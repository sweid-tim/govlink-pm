
<file path=[Content_Types].xml><?xml version="1.0" encoding="utf-8"?>
<Types xmlns="http://schemas.openxmlformats.org/package/2006/content-types">
  <Default Extension="vml" ContentType="application/vnd.openxmlformats-officedocument.vmlDrawing"/>
  <Default Extension="doc" ContentType="application/msword"/>
  <Default Extension="bin" ContentType="application/vnd.openxmlformats-officedocument.oleObjec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2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9ECF6"/>
    <a:srgbClr val="AAAAAA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22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8.xml"/><Relationship Id="rId3" Type="http://schemas.openxmlformats.org/officeDocument/2006/relationships/hyperlink" Target="https://wb.jiangsu.gov.cn/art/2024/8/30/art_352_2550385.html" TargetMode="Externa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Document4.doc"/><Relationship Id="rId8" Type="http://schemas.openxmlformats.org/officeDocument/2006/relationships/image" Target="../media/image3.png"/><Relationship Id="rId7" Type="http://schemas.openxmlformats.org/officeDocument/2006/relationships/oleObject" Target="../embeddings/Document3.doc"/><Relationship Id="rId6" Type="http://schemas.openxmlformats.org/officeDocument/2006/relationships/image" Target="../media/image2.png"/><Relationship Id="rId5" Type="http://schemas.openxmlformats.org/officeDocument/2006/relationships/oleObject" Target="../embeddings/Document2.doc"/><Relationship Id="rId4" Type="http://schemas.openxmlformats.org/officeDocument/2006/relationships/image" Target="../media/image1.png"/><Relationship Id="rId3" Type="http://schemas.openxmlformats.org/officeDocument/2006/relationships/oleObject" Target="../embeddings/Document1.doc"/><Relationship Id="rId2" Type="http://schemas.openxmlformats.org/officeDocument/2006/relationships/tags" Target="../tags/tag73.xml"/><Relationship Id="rId13" Type="http://schemas.openxmlformats.org/officeDocument/2006/relationships/vmlDrawing" Target="../drawings/vmlDrawing1.v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74.xml"/><Relationship Id="rId10" Type="http://schemas.openxmlformats.org/officeDocument/2006/relationships/image" Target="../media/image4.png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hyperlink" Target="http://www.visajs.com/014/mapmoreinfo.html" TargetMode="External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oleObject" Target="../embeddings/oleObject4.bin"/><Relationship Id="rId8" Type="http://schemas.openxmlformats.org/officeDocument/2006/relationships/image" Target="../media/image7.png"/><Relationship Id="rId7" Type="http://schemas.openxmlformats.org/officeDocument/2006/relationships/oleObject" Target="../embeddings/oleObject3.bin"/><Relationship Id="rId6" Type="http://schemas.openxmlformats.org/officeDocument/2006/relationships/image" Target="../media/image6.png"/><Relationship Id="rId5" Type="http://schemas.openxmlformats.org/officeDocument/2006/relationships/oleObject" Target="../embeddings/oleObject2.bin"/><Relationship Id="rId4" Type="http://schemas.openxmlformats.org/officeDocument/2006/relationships/image" Target="../media/image5.png"/><Relationship Id="rId3" Type="http://schemas.openxmlformats.org/officeDocument/2006/relationships/oleObject" Target="../embeddings/oleObject1.bin"/><Relationship Id="rId2" Type="http://schemas.openxmlformats.org/officeDocument/2006/relationships/tags" Target="../tags/tag79.xml"/><Relationship Id="rId13" Type="http://schemas.openxmlformats.org/officeDocument/2006/relationships/vmlDrawing" Target="../drawings/vmlDrawing2.vml"/><Relationship Id="rId12" Type="http://schemas.openxmlformats.org/officeDocument/2006/relationships/slideLayout" Target="../slideLayouts/slideLayout2.xml"/><Relationship Id="rId11" Type="http://schemas.openxmlformats.org/officeDocument/2006/relationships/tags" Target="../tags/tag80.xml"/><Relationship Id="rId10" Type="http://schemas.openxmlformats.org/officeDocument/2006/relationships/image" Target="../media/image8.png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r>
              <a:rPr lang="zh-CN" altLang="zh-CN"/>
              <a:t>江苏省因公护照签证</a:t>
            </a:r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en-US" altLang="zh-CN"/>
              <a:t>                           </a:t>
            </a:r>
            <a:r>
              <a:rPr lang="zh-CN" altLang="en-US"/>
              <a:t>——办理流程、所需材料及</a:t>
            </a:r>
            <a:r>
              <a:rPr lang="zh-CN" altLang="en-US"/>
              <a:t>注意事项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</a:rPr>
              <a:t>因公护照申办指南</a:t>
            </a:r>
            <a:endParaRPr lang="zh-CN" altLang="en-US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graphicFrame>
        <p:nvGraphicFramePr>
          <p:cNvPr id="4" name="内容占位符 3"/>
          <p:cNvGraphicFramePr/>
          <p:nvPr>
            <p:ph idx="1"/>
            <p:custDataLst>
              <p:tags r:id="rId2"/>
            </p:custDataLst>
          </p:nvPr>
        </p:nvGraphicFramePr>
        <p:xfrm>
          <a:off x="608330" y="1490345"/>
          <a:ext cx="10968990" cy="473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7145"/>
                <a:gridCol w="9681845"/>
              </a:tblGrid>
              <a:tr h="7029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0">
                          <a:latin typeface="微软雅黑" charset="0"/>
                          <a:ea typeface="微软雅黑" charset="0"/>
                        </a:rPr>
                        <a:t>受理部门</a:t>
                      </a:r>
                      <a:endParaRPr lang="zh-CN" altLang="en-US" sz="2000" b="0"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0">
                          <a:latin typeface="微软雅黑" charset="0"/>
                          <a:ea typeface="微软雅黑" charset="0"/>
                        </a:rPr>
                        <a:t>省政府外事办公室出国管理处（南京）</a:t>
                      </a:r>
                      <a:endParaRPr lang="zh-CN" altLang="en-US" sz="2000" b="0"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/>
                </a:tc>
              </a:tr>
              <a:tr h="7029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0">
                          <a:latin typeface="微软雅黑" charset="0"/>
                          <a:ea typeface="微软雅黑" charset="0"/>
                        </a:rPr>
                        <a:t>办理依据</a:t>
                      </a:r>
                      <a:endParaRPr lang="zh-CN" altLang="en-US" sz="2000" b="0"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en-US" altLang="zh-CN" sz="20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1. </a:t>
                      </a:r>
                      <a:r>
                        <a:rPr lang="zh-CN" altLang="en-US" sz="20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出国任务件</a:t>
                      </a:r>
                      <a:r>
                        <a:rPr lang="en-US" altLang="zh-CN" sz="20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;</a:t>
                      </a:r>
                      <a:r>
                        <a:rPr lang="en-US" altLang="zh-CN" sz="2000" b="0">
                          <a:latin typeface="微软雅黑" charset="0"/>
                          <a:ea typeface="微软雅黑" charset="0"/>
                          <a:cs typeface="微软雅黑" charset="0"/>
                          <a:hlinkClick r:id="rId3" tooltip="" action="ppaction://hlinkfile"/>
                        </a:rPr>
                        <a:t>https://wb.jiangsu.gov.cn/art/2024/8/30/art_352_2550385.html</a:t>
                      </a:r>
                      <a:endParaRPr lang="en-US" altLang="zh-CN" sz="2000" b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algn="l">
                        <a:buNone/>
                      </a:pPr>
                      <a:r>
                        <a:rPr lang="en-US" altLang="zh-CN" sz="20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2. </a:t>
                      </a:r>
                      <a:r>
                        <a:rPr lang="zh-CN" altLang="en-US" sz="20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出国任务通知书</a:t>
                      </a:r>
                      <a:endParaRPr lang="zh-CN" altLang="en-US" sz="2000" b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anchor="ctr" anchorCtr="0"/>
                </a:tc>
              </a:tr>
              <a:tr h="7029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0">
                          <a:latin typeface="微软雅黑" charset="0"/>
                          <a:ea typeface="微软雅黑" charset="0"/>
                        </a:rPr>
                        <a:t>申请条件</a:t>
                      </a:r>
                      <a:endParaRPr lang="zh-CN" altLang="en-US" sz="2000" b="0"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0">
                          <a:latin typeface="微软雅黑" charset="0"/>
                          <a:ea typeface="微软雅黑" charset="0"/>
                        </a:rPr>
                        <a:t>全省各市外办，省各部、委、办、厅、局，省直属单位，大型企业集团，部分外贸企业，大专院校、科研机构以及经外交部批准授权的单位</a:t>
                      </a:r>
                      <a:endParaRPr lang="zh-CN" altLang="en-US" sz="2000" b="0"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/>
                </a:tc>
              </a:tr>
              <a:tr h="70358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0">
                          <a:latin typeface="微软雅黑" charset="0"/>
                          <a:ea typeface="微软雅黑" charset="0"/>
                        </a:rPr>
                        <a:t>办理时限</a:t>
                      </a:r>
                      <a:endParaRPr lang="zh-CN" altLang="en-US" sz="2000" b="0"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0">
                          <a:latin typeface="微软雅黑" charset="0"/>
                          <a:ea typeface="微软雅黑" charset="0"/>
                        </a:rPr>
                        <a:t>一般情况下护照三个工作日后可领取</a:t>
                      </a:r>
                      <a:endParaRPr lang="zh-CN" altLang="en-US" sz="2000" b="0"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/>
                </a:tc>
              </a:tr>
              <a:tr h="106870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0">
                          <a:latin typeface="微软雅黑" charset="0"/>
                          <a:ea typeface="微软雅黑" charset="0"/>
                        </a:rPr>
                        <a:t>办理流程</a:t>
                      </a:r>
                      <a:endParaRPr lang="zh-CN" altLang="en-US" sz="2000" b="0"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1. </a:t>
                      </a:r>
                      <a:r>
                        <a:rPr lang="zh-CN" altLang="en-US" sz="20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网上申报材料；</a:t>
                      </a:r>
                      <a:endParaRPr lang="zh-CN" altLang="en-US" sz="2000" b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2. </a:t>
                      </a:r>
                      <a:r>
                        <a:rPr lang="zh-CN" altLang="en-US" sz="20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交纸质材料到办照窗口；</a:t>
                      </a:r>
                      <a:endParaRPr lang="zh-CN" altLang="en-US" sz="2000" b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  <a:p>
                      <a:pPr marL="0" indent="0" algn="l"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lang="en-US" altLang="zh-CN" sz="20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3. </a:t>
                      </a:r>
                      <a:r>
                        <a:rPr lang="zh-CN" altLang="en-US" sz="20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申请新护照的出国人员带身份证原件到窗口采集指纹</a:t>
                      </a:r>
                      <a:r>
                        <a:rPr lang="en-US" altLang="zh-CN" sz="20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(</a:t>
                      </a:r>
                      <a:r>
                        <a:rPr lang="zh-CN" altLang="en-US" sz="20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现役军人及申办通行证者除外</a:t>
                      </a:r>
                      <a:r>
                        <a:rPr lang="en-US" altLang="zh-CN" sz="20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)</a:t>
                      </a:r>
                      <a:r>
                        <a:rPr lang="zh-CN" altLang="en-US" sz="2000" b="0">
                          <a:latin typeface="微软雅黑" charset="0"/>
                          <a:ea typeface="微软雅黑" charset="0"/>
                          <a:cs typeface="微软雅黑" charset="0"/>
                        </a:rPr>
                        <a:t>。</a:t>
                      </a:r>
                      <a:endParaRPr lang="zh-CN" altLang="en-US" sz="2000" b="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 marL="68580" marR="68580" marT="0" marB="0" anchor="t" anchorCtr="0"/>
                </a:tc>
              </a:tr>
              <a:tr h="70294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000" b="0">
                          <a:solidFill>
                            <a:schemeClr val="tx1"/>
                          </a:solidFill>
                          <a:latin typeface="微软雅黑" charset="0"/>
                          <a:ea typeface="微软雅黑" charset="0"/>
                        </a:rPr>
                        <a:t>备注</a:t>
                      </a:r>
                      <a:endParaRPr lang="zh-CN" altLang="en-US" sz="2000" b="0">
                        <a:solidFill>
                          <a:schemeClr val="tx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l">
                        <a:buNone/>
                      </a:pPr>
                      <a:r>
                        <a:rPr lang="zh-CN" altLang="en-US" sz="2000" b="0">
                          <a:solidFill>
                            <a:srgbClr val="FF0000"/>
                          </a:solidFill>
                          <a:latin typeface="微软雅黑" charset="0"/>
                          <a:ea typeface="微软雅黑" charset="0"/>
                        </a:rPr>
                        <a:t>南京、南通、连云港市及苏州工业园区外办</a:t>
                      </a:r>
                      <a:r>
                        <a:rPr lang="zh-CN" altLang="en-US" sz="2000" b="0">
                          <a:latin typeface="微软雅黑" charset="0"/>
                          <a:ea typeface="微软雅黑" charset="0"/>
                        </a:rPr>
                        <a:t>具备因公护照独立申办权限，按三市一区规定的程序申办，无需通过省级外办审批。</a:t>
                      </a:r>
                      <a:endParaRPr lang="zh-CN" altLang="en-US" sz="2000" b="0"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/>
                </a:tc>
              </a:tr>
            </a:tbl>
          </a:graphicData>
        </a:graphic>
      </p:graphicFrame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因公护照申办指南</a:t>
            </a:r>
            <a:endParaRPr lang="zh-CN" altLang="en-US"/>
          </a:p>
        </p:txBody>
      </p:sp>
      <p:graphicFrame>
        <p:nvGraphicFramePr>
          <p:cNvPr id="4" name="内容占位符 3"/>
          <p:cNvGraphicFramePr/>
          <p:nvPr>
            <p:ph idx="1"/>
            <p:custDataLst>
              <p:tags r:id="rId2"/>
            </p:custDataLst>
          </p:nvPr>
        </p:nvGraphicFramePr>
        <p:xfrm>
          <a:off x="608400" y="1490400"/>
          <a:ext cx="10968990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4770"/>
                <a:gridCol w="9634220"/>
              </a:tblGrid>
              <a:tr h="381000">
                <a:tc rowSpan="8"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zh-CN" altLang="en-US" sz="2000" b="0">
                          <a:solidFill>
                            <a:schemeClr val="dk1"/>
                          </a:solidFill>
                          <a:latin typeface="微软雅黑" charset="0"/>
                          <a:ea typeface="微软雅黑" charset="0"/>
                        </a:rPr>
                        <a:t>申办材料</a:t>
                      </a:r>
                      <a:endParaRPr lang="zh-CN" altLang="en-US" sz="2000" b="0">
                        <a:solidFill>
                          <a:schemeClr val="dk1"/>
                        </a:solidFill>
                        <a:latin typeface="微软雅黑" charset="0"/>
                        <a:ea typeface="微软雅黑" charset="0"/>
                      </a:endParaRPr>
                    </a:p>
                  </a:txBody>
                  <a:tcPr anchor="ctr" anchorCtr="0">
                    <a:solidFill>
                      <a:srgbClr val="E9ECF6"/>
                    </a:solidFill>
                  </a:tcPr>
                </a:tc>
                <a:tc>
                  <a:txBody>
                    <a:bodyPr/>
                    <a:p>
                      <a:pPr algn="l">
                        <a:buClrTx/>
                        <a:buSzTx/>
                        <a:buFontTx/>
                        <a:buNone/>
                      </a:pPr>
                      <a:r>
                        <a:rPr lang="en-US" altLang="zh-CN" sz="2000" b="0">
                          <a:solidFill>
                            <a:schemeClr val="dk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1.</a:t>
                      </a:r>
                      <a:r>
                        <a:rPr lang="zh-CN" altLang="en-US" sz="2000" b="0">
                          <a:solidFill>
                            <a:schemeClr val="dk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出国任务批件</a:t>
                      </a:r>
                      <a:r>
                        <a:rPr lang="en-US" altLang="zh-CN" sz="2000" b="0">
                          <a:solidFill>
                            <a:schemeClr val="dk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(</a:t>
                      </a:r>
                      <a:r>
                        <a:rPr lang="zh-CN" altLang="en-US" sz="2000" b="0">
                          <a:solidFill>
                            <a:schemeClr val="dk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双跨团组提供任务通知书、任务批件、任务确认件</a:t>
                      </a:r>
                      <a:r>
                        <a:rPr lang="en-US" altLang="zh-CN" sz="2000" b="0">
                          <a:solidFill>
                            <a:schemeClr val="dk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)</a:t>
                      </a:r>
                      <a:r>
                        <a:rPr lang="zh-CN" altLang="en-US" sz="2000" b="0">
                          <a:solidFill>
                            <a:schemeClr val="dk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原件</a:t>
                      </a:r>
                      <a:r>
                        <a:rPr lang="en-US" altLang="zh-CN" sz="2000" b="0">
                          <a:solidFill>
                            <a:schemeClr val="dk1"/>
                          </a:solidFill>
                          <a:latin typeface="微软雅黑" charset="0"/>
                          <a:ea typeface="微软雅黑" charset="0"/>
                          <a:cs typeface="微软雅黑" charset="0"/>
                        </a:rPr>
                        <a:t>;</a:t>
                      </a:r>
                      <a:endParaRPr lang="en-US" altLang="zh-CN" sz="2000" b="0">
                        <a:solidFill>
                          <a:schemeClr val="dk1"/>
                        </a:solidFill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>
                    <a:solidFill>
                      <a:srgbClr val="E9ECF6"/>
                    </a:solidFill>
                  </a:tcPr>
                </a:tc>
              </a:tr>
              <a:tr h="38100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2.</a:t>
                      </a:r>
                      <a:r>
                        <a:rPr lang="zh-CN" altLang="en-US" sz="20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因公临时出国</a:t>
                      </a:r>
                      <a:r>
                        <a:rPr lang="en-US" altLang="zh-CN" sz="20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(</a:t>
                      </a:r>
                      <a:r>
                        <a:rPr lang="zh-CN" altLang="en-US" sz="20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境</a:t>
                      </a:r>
                      <a:r>
                        <a:rPr lang="en-US" altLang="zh-CN" sz="20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)</a:t>
                      </a:r>
                      <a:r>
                        <a:rPr lang="zh-CN" altLang="en-US" sz="20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人员备案表原件</a:t>
                      </a:r>
                      <a:r>
                        <a:rPr lang="en-US" altLang="zh-CN" sz="20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;</a:t>
                      </a:r>
                      <a:endParaRPr lang="en-US" altLang="zh-CN" sz="2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/>
                </a:tc>
              </a:tr>
              <a:tr h="38100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3.</a:t>
                      </a:r>
                      <a:r>
                        <a:rPr lang="zh-CN" altLang="en-US" sz="20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合格有效的邀请函电子版</a:t>
                      </a:r>
                      <a:r>
                        <a:rPr lang="en-US" altLang="zh-CN" sz="20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/</a:t>
                      </a:r>
                      <a:r>
                        <a:rPr lang="zh-CN" altLang="en-US" sz="20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复印件；</a:t>
                      </a:r>
                      <a:endParaRPr lang="zh-CN" altLang="en-US" sz="2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/>
                </a:tc>
              </a:tr>
              <a:tr h="38100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4.</a:t>
                      </a:r>
                      <a:r>
                        <a:rPr lang="zh-CN" altLang="en-US" sz="20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因公出国人员所在单位按干部管理权限</a:t>
                      </a:r>
                      <a:r>
                        <a:rPr lang="en-US" altLang="zh-CN" sz="20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,</a:t>
                      </a:r>
                      <a:r>
                        <a:rPr lang="zh-CN" altLang="en-US" sz="20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向上级报批的出国请示原件；</a:t>
                      </a:r>
                      <a:endParaRPr lang="zh-CN" altLang="en-US" sz="2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/>
                </a:tc>
              </a:tr>
              <a:tr h="38100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5.</a:t>
                      </a:r>
                      <a:r>
                        <a:rPr lang="zh-CN" altLang="en-US" sz="20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出国人员居民身份证</a:t>
                      </a:r>
                      <a:r>
                        <a:rPr lang="en-US" altLang="zh-CN" sz="20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(</a:t>
                      </a:r>
                      <a:r>
                        <a:rPr lang="zh-CN" altLang="en-US" sz="20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军官证、警官证</a:t>
                      </a:r>
                      <a:r>
                        <a:rPr lang="en-US" altLang="zh-CN" sz="20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)</a:t>
                      </a:r>
                      <a:r>
                        <a:rPr lang="zh-CN" altLang="en-US" sz="20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复印件</a:t>
                      </a:r>
                      <a:r>
                        <a:rPr lang="en-US" altLang="zh-CN" sz="20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;</a:t>
                      </a:r>
                      <a:endParaRPr lang="en-US" altLang="zh-CN" sz="2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/>
                </a:tc>
              </a:tr>
              <a:tr h="38100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6.</a:t>
                      </a:r>
                      <a:r>
                        <a:rPr lang="zh-CN" altLang="en-US" sz="20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照片要求：正面、免冠、白底</a:t>
                      </a:r>
                      <a:r>
                        <a:rPr lang="en-US" altLang="zh-CN" sz="20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2</a:t>
                      </a:r>
                      <a:r>
                        <a:rPr lang="zh-CN" altLang="en-US" sz="20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寸、服装整齐的软光纸近期照片；</a:t>
                      </a:r>
                      <a:endParaRPr lang="zh-CN" altLang="en-US" sz="2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/>
                </a:tc>
              </a:tr>
              <a:tr h="38100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7.</a:t>
                      </a:r>
                      <a:r>
                        <a:rPr lang="zh-CN" altLang="en-US" sz="20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申请出国护照签证事项表</a:t>
                      </a:r>
                      <a:r>
                        <a:rPr lang="en-US" altLang="zh-CN" sz="20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; </a:t>
                      </a:r>
                      <a:endParaRPr lang="zh-CN" altLang="en-US" sz="2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/>
                </a:tc>
              </a:tr>
              <a:tr h="381000">
                <a:tc vMerge="1"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0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8.</a:t>
                      </a:r>
                      <a:r>
                        <a:rPr lang="zh-CN" altLang="en-US" sz="2000">
                          <a:latin typeface="微软雅黑" charset="0"/>
                          <a:ea typeface="微软雅黑" charset="0"/>
                          <a:cs typeface="微软雅黑" charset="0"/>
                        </a:rPr>
                        <a:t>因公电子护照申请表；</a:t>
                      </a:r>
                      <a:endParaRPr lang="zh-CN" altLang="en-US" sz="2000">
                        <a:latin typeface="微软雅黑" charset="0"/>
                        <a:ea typeface="微软雅黑" charset="0"/>
                        <a:cs typeface="微软雅黑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因公护照申办指南（南通</a:t>
            </a:r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地区）</a:t>
            </a:r>
            <a:endParaRPr lang="zh-CN" altLang="en-US" b="1">
              <a:latin typeface="PingFang SC Semibold" panose="020B0400000000000000" charset="-122"/>
              <a:ea typeface="PingFang SC Semibold" panose="020B0400000000000000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313815"/>
            <a:ext cx="11191240" cy="5334635"/>
          </a:xfrm>
        </p:spPr>
        <p:txBody>
          <a:bodyPr>
            <a:noAutofit/>
          </a:bodyPr>
          <a:p>
            <a:pPr>
              <a:lnSpc>
                <a:spcPct val="90000"/>
              </a:lnSpc>
            </a:pPr>
            <a:r>
              <a:rPr lang="zh-CN" altLang="en-US" sz="15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一、流程</a:t>
            </a:r>
            <a:r>
              <a:rPr lang="en-US" altLang="zh-CN" sz="15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  </a:t>
            </a:r>
            <a:r>
              <a:rPr lang="zh-CN" altLang="en-US" sz="150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（南通地区办理护照可与请示报批同步进行）</a:t>
            </a:r>
            <a:r>
              <a:rPr lang="en-US" altLang="zh-CN" sz="1500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 </a:t>
            </a:r>
            <a:endParaRPr lang="en-US" altLang="zh-CN" sz="1500">
              <a:solidFill>
                <a:srgbClr val="FF0000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90000"/>
              </a:lnSpc>
            </a:pPr>
            <a:r>
              <a:rPr lang="en-US" altLang="zh-CN" sz="15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1.</a:t>
            </a:r>
            <a:r>
              <a:rPr lang="zh-CN" altLang="en-US" sz="15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携带身份证原件前往市外办</a:t>
            </a:r>
            <a:r>
              <a:rPr lang="zh-CN" altLang="en-US" sz="15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采集指纹</a:t>
            </a:r>
            <a:endParaRPr lang="zh-CN" altLang="en-US" sz="150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90000"/>
              </a:lnSpc>
            </a:pPr>
            <a:r>
              <a:rPr lang="en-US" altLang="zh-CN" sz="15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2.</a:t>
            </a:r>
            <a:r>
              <a:rPr lang="zh-CN" altLang="en-US" sz="15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拍照</a:t>
            </a:r>
            <a:endParaRPr lang="zh-CN" altLang="en-US" sz="150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90000"/>
              </a:lnSpc>
            </a:pPr>
            <a:r>
              <a:rPr lang="en-US" altLang="zh-CN" sz="15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3.</a:t>
            </a:r>
            <a:r>
              <a:rPr lang="zh-CN" altLang="en-US" sz="15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网上申报材料</a:t>
            </a:r>
            <a:endParaRPr lang="zh-CN" altLang="en-US" sz="150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  <a:sym typeface="+mn-ea"/>
            </a:endParaRPr>
          </a:p>
          <a:p>
            <a:pPr>
              <a:lnSpc>
                <a:spcPct val="90000"/>
              </a:lnSpc>
            </a:pPr>
            <a:r>
              <a:rPr lang="en-US" altLang="zh-CN" sz="15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4.</a:t>
            </a:r>
            <a:r>
              <a:rPr lang="zh-CN" altLang="en-US" sz="15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  <a:sym typeface="+mn-ea"/>
              </a:rPr>
              <a:t>递交纸质材料至市外办</a:t>
            </a:r>
            <a:endParaRPr lang="zh-CN" altLang="en-US" sz="150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90000"/>
              </a:lnSpc>
            </a:pPr>
            <a:r>
              <a:rPr lang="zh-CN" altLang="en-US" sz="15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二、纸质材料</a:t>
            </a:r>
            <a:endParaRPr lang="zh-CN" altLang="en-US" sz="150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90000"/>
              </a:lnSpc>
            </a:pPr>
            <a:r>
              <a:rPr lang="en-US" altLang="zh-CN" sz="15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1.</a:t>
            </a:r>
            <a:r>
              <a:rPr lang="zh-CN" altLang="en-US" sz="15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《申请出国护照签证事项表》</a:t>
            </a:r>
            <a:endParaRPr lang="zh-CN" altLang="en-US" sz="150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90000"/>
              </a:lnSpc>
            </a:pPr>
            <a:r>
              <a:rPr lang="en-US" altLang="zh-CN" sz="15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2.</a:t>
            </a:r>
            <a:r>
              <a:rPr lang="zh-CN" altLang="en-US" sz="15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《因公电子护照申请表》</a:t>
            </a:r>
            <a:endParaRPr lang="zh-CN" altLang="en-US" sz="150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90000"/>
              </a:lnSpc>
            </a:pPr>
            <a:r>
              <a:rPr lang="en-US" altLang="zh-CN" sz="15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3.</a:t>
            </a:r>
            <a:r>
              <a:rPr lang="zh-CN" altLang="en-US" sz="15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《申办出国境手续历史情况登记表》</a:t>
            </a:r>
            <a:endParaRPr lang="zh-CN" altLang="en-US" sz="150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90000"/>
              </a:lnSpc>
            </a:pPr>
            <a:r>
              <a:rPr lang="en-US" altLang="zh-CN" sz="15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4.</a:t>
            </a:r>
            <a:r>
              <a:rPr lang="zh-CN" altLang="en-US" sz="15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《护照填写卡片》</a:t>
            </a:r>
            <a:endParaRPr lang="zh-CN" altLang="en-US" sz="150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90000"/>
              </a:lnSpc>
            </a:pPr>
            <a:r>
              <a:rPr lang="en-US" altLang="zh-CN" sz="15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5.</a:t>
            </a:r>
            <a:r>
              <a:rPr lang="zh-CN" altLang="en-US" sz="15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《因公临时出国人员备案表》原件</a:t>
            </a:r>
            <a:endParaRPr lang="zh-CN" altLang="en-US" sz="150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90000"/>
              </a:lnSpc>
            </a:pPr>
            <a:r>
              <a:rPr lang="zh-CN" altLang="en-US" sz="15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以上办理护照所需材料可在递交签证材料前</a:t>
            </a:r>
            <a:r>
              <a:rPr lang="en-US" altLang="zh-CN" sz="15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/</a:t>
            </a:r>
            <a:r>
              <a:rPr lang="zh-CN" altLang="en-US" sz="15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当天交到市外办。表格</a:t>
            </a:r>
            <a:r>
              <a:rPr lang="en-US" altLang="zh-CN" sz="15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1-4</a:t>
            </a:r>
            <a:r>
              <a:rPr lang="zh-CN" altLang="en-US" sz="15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在市外办领取；材料</a:t>
            </a:r>
            <a:r>
              <a:rPr lang="en-US" altLang="zh-CN" sz="15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5</a:t>
            </a:r>
            <a:r>
              <a:rPr lang="zh-CN" altLang="en-US" sz="15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由团组成员所在单位填写并提供加盖公章的原件。</a:t>
            </a:r>
            <a:endParaRPr lang="zh-CN" altLang="en-US" sz="150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90000"/>
              </a:lnSpc>
            </a:pPr>
            <a:r>
              <a:rPr lang="zh-CN" altLang="en-US" sz="15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三、所需时间及特殊情况</a:t>
            </a:r>
            <a:endParaRPr lang="zh-CN" altLang="en-US" sz="150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  <a:p>
            <a:pPr>
              <a:lnSpc>
                <a:spcPct val="90000"/>
              </a:lnSpc>
            </a:pPr>
            <a:r>
              <a:rPr lang="zh-CN" altLang="en-US" sz="15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一般在填报请示和录完指纹后，两个工作日出护照号，四个工作日</a:t>
            </a:r>
            <a:r>
              <a:rPr lang="zh-CN" altLang="en-US" sz="1500">
                <a:solidFill>
                  <a:schemeClr val="tx1"/>
                </a:solidFill>
                <a:latin typeface="微软雅黑" charset="0"/>
                <a:ea typeface="微软雅黑" charset="0"/>
                <a:cs typeface="微软雅黑" charset="0"/>
              </a:rPr>
              <a:t>护照原件到达市外办（可在这个时间段向团组成员收集办理护照和签证所需信息及材料）。如遇团组出行时间紧张但邀请函没有确定无法上报请示时，可以同市外办说明计划出行时间及国家，由市外办领导确认该团组是否可以在系统容缺提交护照申请。</a:t>
            </a:r>
            <a:endParaRPr lang="zh-CN" altLang="en-US" sz="1500">
              <a:solidFill>
                <a:schemeClr val="tx1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357880" y="3678555"/>
          <a:ext cx="297815" cy="297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showAsIcon="1" r:id="rId3" imgW="1524000" imgH="1524000" progId="Word.Document.8">
                  <p:embed/>
                </p:oleObj>
              </mc:Choice>
              <mc:Fallback>
                <p:oleObj name="" showAsIcon="1" r:id="rId3" imgW="1524000" imgH="1524000" progId="Word.Document.8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357880" y="3678555"/>
                        <a:ext cx="297815" cy="2978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4379595" y="3976370"/>
          <a:ext cx="297815" cy="297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" showAsIcon="1" r:id="rId5" imgW="1524000" imgH="1524000" progId="Word.Document.8">
                  <p:embed/>
                </p:oleObj>
              </mc:Choice>
              <mc:Fallback>
                <p:oleObj name="" showAsIcon="1" r:id="rId5" imgW="1524000" imgH="1524000" progId="Word.Document.8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379595" y="3976370"/>
                        <a:ext cx="297815" cy="29781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802255" y="4274185"/>
          <a:ext cx="297180" cy="297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" showAsIcon="1" r:id="rId7" imgW="1524000" imgH="1524000" progId="Word.Document.8">
                  <p:embed/>
                </p:oleObj>
              </mc:Choice>
              <mc:Fallback>
                <p:oleObj name="" showAsIcon="1" r:id="rId7" imgW="1524000" imgH="1524000" progId="Word.Document.8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802255" y="4274185"/>
                        <a:ext cx="297180" cy="2971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对象 7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3803650" y="3280410"/>
          <a:ext cx="297180" cy="29718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" showAsIcon="1" r:id="rId9" imgW="1524000" imgH="1524000" progId="Word.Document.8">
                  <p:embed/>
                </p:oleObj>
              </mc:Choice>
              <mc:Fallback>
                <p:oleObj name="" showAsIcon="1" r:id="rId9" imgW="1524000" imgH="1524000" progId="Word.Document.8">
                  <p:embed/>
                  <p:pic>
                    <p:nvPicPr>
                      <p:cNvPr id="0" name="图片 1028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3803650" y="3280410"/>
                        <a:ext cx="297180" cy="29718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1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</a:rPr>
              <a:t>因公签证申办指南</a:t>
            </a:r>
            <a:endParaRPr lang="zh-CN" altLang="en-US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490345"/>
            <a:ext cx="10968990" cy="1085850"/>
          </a:xfrm>
        </p:spPr>
        <p:txBody>
          <a:bodyPr/>
          <a:p>
            <a:r>
              <a:rPr lang="zh-CN" altLang="en-US" u="sng">
                <a:hlinkClick r:id="rId3"/>
              </a:rPr>
              <a:t>江苏省签证服务中心</a:t>
            </a:r>
            <a:r>
              <a:rPr lang="en-US" altLang="zh-CN" u="sng">
                <a:hlinkClick r:id="rId3"/>
              </a:rPr>
              <a:t>-</a:t>
            </a:r>
            <a:r>
              <a:rPr lang="zh-CN" altLang="en-US" u="sng">
                <a:hlinkClick r:id="rId3"/>
              </a:rPr>
              <a:t>各国签证要求</a:t>
            </a:r>
            <a:r>
              <a:rPr lang="en-US" altLang="zh-CN" u="sng">
                <a:hlinkClick r:id="rId3"/>
              </a:rPr>
              <a:t> </a:t>
            </a:r>
            <a:endParaRPr lang="zh-CN" altLang="en-US" u="sng">
              <a:hlinkClick r:id="rId3"/>
            </a:endParaRPr>
          </a:p>
          <a:p>
            <a:r>
              <a:rPr lang="zh-CN" altLang="en-US" u="sng">
                <a:hlinkClick r:id="rId3"/>
              </a:rPr>
              <a:t>江苏省外事办最新签证信息</a:t>
            </a:r>
            <a:endParaRPr lang="zh-CN" altLang="en-US" u="sng">
              <a:hlinkClick r:id="rId3"/>
            </a:endParaRPr>
          </a:p>
          <a:p>
            <a:endParaRPr lang="zh-CN" altLang="en-US" u="sng">
              <a:hlinkClick r:id="rId3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608330" y="2658745"/>
            <a:ext cx="10496550" cy="37230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各申请单位可以在等待护照办结的过程中，提前通过以上网页查看申办国签证材料清单及注意事项。根据材料清单准备各类纸质材料。</a:t>
            </a:r>
            <a:r>
              <a:rPr lang="zh-CN" altLang="en-US">
                <a:solidFill>
                  <a:srgbClr val="FF0000"/>
                </a:solidFill>
                <a:latin typeface="微软雅黑" charset="0"/>
                <a:ea typeface="微软雅黑" charset="0"/>
                <a:cs typeface="微软雅黑" charset="0"/>
              </a:rPr>
              <a:t>中心网站上没有的国家，通常为免签或可落地签国家。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签证预约：除美国、澳新、丹麦可自行预约时间递交材料，其余需要预约递签时间的国家需由市外办与省外办预约。如申根国家需要采集指纹（无论是否有过申根指纹都需预约递交名额，签证材料要在预约时间之前进领馆。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签证费用：团组签证产生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的费用由省外办结算发送账单至市外办，再由市外办通知到团组付费。费用一般包含签证费（线上缴签证费的国家除外：如丹麦、英国等）、省外办服务费及护照往返快递费用。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  <a:p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签证材料递交：由团组专管员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/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团组代表</a:t>
            </a:r>
            <a:r>
              <a:rPr lang="en-US" altLang="zh-CN">
                <a:latin typeface="微软雅黑" charset="0"/>
                <a:ea typeface="微软雅黑" charset="0"/>
                <a:cs typeface="微软雅黑" charset="0"/>
              </a:rPr>
              <a:t>/</a:t>
            </a:r>
            <a:r>
              <a:rPr lang="zh-CN" altLang="en-US">
                <a:latin typeface="微软雅黑" charset="0"/>
                <a:ea typeface="微软雅黑" charset="0"/>
                <a:cs typeface="微软雅黑" charset="0"/>
              </a:rPr>
              <a:t>组团单位代表将材料递交至市外办，第三方仅可协助不可单独递交。</a:t>
            </a:r>
            <a:endParaRPr lang="zh-CN" altLang="en-US">
              <a:latin typeface="微软雅黑" charset="0"/>
              <a:ea typeface="微软雅黑" charset="0"/>
              <a:cs typeface="微软雅黑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</a:rPr>
              <a:t>因公签证材料</a:t>
            </a:r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</a:rPr>
              <a:t>注意事项</a:t>
            </a:r>
            <a:endParaRPr lang="zh-CN" altLang="en-US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400" y="1313870"/>
            <a:ext cx="10969200" cy="4759200"/>
          </a:xfrm>
        </p:spPr>
        <p:txBody>
          <a:bodyPr>
            <a:normAutofit lnSpcReduction="20000"/>
          </a:bodyPr>
          <a:p>
            <a:pPr marL="0" indent="0">
              <a:buNone/>
            </a:pPr>
            <a:r>
              <a:rPr lang="zh-CN" altLang="en-US" sz="2400" b="1">
                <a:latin typeface="微软雅黑" charset="0"/>
                <a:ea typeface="微软雅黑" charset="0"/>
              </a:rPr>
              <a:t>以日本为例：</a:t>
            </a:r>
            <a:endParaRPr lang="en-US" altLang="zh-CN" sz="2400" b="1">
              <a:latin typeface="微软雅黑" charset="0"/>
              <a:ea typeface="微软雅黑" charset="0"/>
            </a:endParaRPr>
          </a:p>
          <a:p>
            <a:r>
              <a:rPr lang="en-US" altLang="zh-CN">
                <a:solidFill>
                  <a:schemeClr val="tx1"/>
                </a:solidFill>
              </a:rPr>
              <a:t>1.</a:t>
            </a:r>
            <a:r>
              <a:rPr lang="zh-CN" altLang="en-US">
                <a:solidFill>
                  <a:schemeClr val="tx1"/>
                </a:solidFill>
              </a:rPr>
              <a:t>日本签证邀请函有固定模板，由招聘理由书、身元保证书、查证申请人名簿、滞在日程表组成。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 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招聘理由书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 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身元保证书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 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查证申请人名簿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  </a:t>
            </a:r>
            <a:r>
              <a:rPr lang="zh-CN" altLang="en-US">
                <a:solidFill>
                  <a:schemeClr val="tx1"/>
                </a:solidFill>
                <a:sym typeface="+mn-ea"/>
              </a:rPr>
              <a:t>滞在日程表组成</a:t>
            </a:r>
            <a:endParaRPr lang="zh-CN" altLang="en-US">
              <a:solidFill>
                <a:schemeClr val="tx1"/>
              </a:solidFill>
              <a:sym typeface="+mn-ea"/>
            </a:endParaRPr>
          </a:p>
          <a:p>
            <a:pPr marL="0" indent="0">
              <a:buNone/>
            </a:pPr>
            <a:r>
              <a:rPr lang="en-US" altLang="zh-CN">
                <a:solidFill>
                  <a:schemeClr val="tx1"/>
                </a:solidFill>
              </a:rPr>
              <a:t>  </a:t>
            </a:r>
            <a:r>
              <a:rPr lang="en-US" altLang="zh-CN">
                <a:solidFill>
                  <a:schemeClr val="tx1"/>
                </a:solidFill>
              </a:rPr>
              <a:t>※</a:t>
            </a:r>
            <a:r>
              <a:rPr lang="zh-CN" altLang="en-US">
                <a:solidFill>
                  <a:schemeClr val="tx1"/>
                </a:solidFill>
              </a:rPr>
              <a:t>除身元保证书加盖公司公章</a:t>
            </a:r>
            <a:r>
              <a:rPr lang="en-US" altLang="zh-CN">
                <a:solidFill>
                  <a:schemeClr val="tx1"/>
                </a:solidFill>
              </a:rPr>
              <a:t>+</a:t>
            </a:r>
            <a:r>
              <a:rPr lang="zh-CN" altLang="en-US">
                <a:solidFill>
                  <a:schemeClr val="tx1"/>
                </a:solidFill>
              </a:rPr>
              <a:t>公司法人章，招聘理由书、查证申请人名簿和滞在日程表盖公司公</a:t>
            </a:r>
            <a:r>
              <a:rPr lang="en-US" altLang="zh-CN">
                <a:solidFill>
                  <a:schemeClr val="tx1"/>
                </a:solidFill>
              </a:rPr>
              <a:t>   </a:t>
            </a:r>
            <a:r>
              <a:rPr lang="zh-CN" altLang="en-US">
                <a:solidFill>
                  <a:schemeClr val="tx1"/>
                </a:solidFill>
              </a:rPr>
              <a:t>章。（</a:t>
            </a:r>
            <a:r>
              <a:rPr lang="zh-CN" altLang="en-US">
                <a:solidFill>
                  <a:srgbClr val="FF0000"/>
                </a:solidFill>
              </a:rPr>
              <a:t>也存在团组邀请函仅身元保证书盖章，其余三份文件不盖章递交至领馆的情况，一般不影响签证出签</a:t>
            </a:r>
            <a:r>
              <a:rPr lang="zh-CN" altLang="en-US">
                <a:solidFill>
                  <a:schemeClr val="tx1"/>
                </a:solidFill>
              </a:rPr>
              <a:t>）。</a:t>
            </a:r>
            <a:endParaRPr lang="zh-CN" altLang="en-US">
              <a:solidFill>
                <a:schemeClr val="tx1"/>
              </a:solidFill>
            </a:endParaRPr>
          </a:p>
          <a:p>
            <a:pPr marL="0" indent="0">
              <a:buNone/>
            </a:pPr>
            <a:endParaRPr lang="en-US">
              <a:solidFill>
                <a:schemeClr val="tx1"/>
              </a:solidFill>
            </a:endParaRPr>
          </a:p>
        </p:txBody>
      </p:sp>
      <p:graphicFrame>
        <p:nvGraphicFramePr>
          <p:cNvPr id="4" name="对象 3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170430" y="2322195"/>
          <a:ext cx="353695" cy="353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5" name="" showAsIcon="1" r:id="rId3" imgW="1524000" imgH="1524000" progId="Package">
                  <p:embed/>
                </p:oleObj>
              </mc:Choice>
              <mc:Fallback>
                <p:oleObj name="" showAsIcon="1" r:id="rId3" imgW="1524000" imgH="1524000" progId="Package">
                  <p:embed/>
                  <p:pic>
                    <p:nvPicPr>
                      <p:cNvPr id="0" name="图片 1024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70430" y="2322195"/>
                        <a:ext cx="353695" cy="3536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170430" y="2726690"/>
          <a:ext cx="353695" cy="353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" showAsIcon="1" r:id="rId5" imgW="1524000" imgH="1524000" progId="Package">
                  <p:embed/>
                </p:oleObj>
              </mc:Choice>
              <mc:Fallback>
                <p:oleObj name="" showAsIcon="1" r:id="rId5" imgW="1524000" imgH="1524000" progId="Package">
                  <p:embed/>
                  <p:pic>
                    <p:nvPicPr>
                      <p:cNvPr id="0" name="图片 1025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2170430" y="2726690"/>
                        <a:ext cx="353695" cy="3536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597785" y="3192145"/>
          <a:ext cx="353695" cy="353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" showAsIcon="1" r:id="rId7" imgW="1524000" imgH="1524000" progId="Package">
                  <p:embed/>
                </p:oleObj>
              </mc:Choice>
              <mc:Fallback>
                <p:oleObj name="" showAsIcon="1" r:id="rId7" imgW="1524000" imgH="1524000" progId="Package">
                  <p:embed/>
                  <p:pic>
                    <p:nvPicPr>
                      <p:cNvPr id="0" name="图片 1026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2597785" y="3192145"/>
                        <a:ext cx="353695" cy="3536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对象 6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597785" y="3656330"/>
          <a:ext cx="353695" cy="3536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" showAsIcon="1" r:id="rId9" imgW="1524000" imgH="1524000" progId="Package">
                  <p:embed/>
                </p:oleObj>
              </mc:Choice>
              <mc:Fallback>
                <p:oleObj name="" showAsIcon="1" r:id="rId9" imgW="1524000" imgH="1524000" progId="Package">
                  <p:embed/>
                  <p:pic>
                    <p:nvPicPr>
                      <p:cNvPr id="0" name="图片 1027"/>
                      <p:cNvPicPr/>
                      <p:nvPr/>
                    </p:nvPicPr>
                    <p:blipFill>
                      <a:blip r:embed="rId10"/>
                      <a:stretch>
                        <a:fillRect/>
                      </a:stretch>
                    </p:blipFill>
                    <p:spPr>
                      <a:xfrm>
                        <a:off x="2597785" y="3656330"/>
                        <a:ext cx="353695" cy="35369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椭圆 7"/>
          <p:cNvSpPr/>
          <p:nvPr/>
        </p:nvSpPr>
        <p:spPr>
          <a:xfrm>
            <a:off x="797560" y="5256530"/>
            <a:ext cx="75565" cy="75565"/>
          </a:xfrm>
          <a:prstGeom prst="ellipse">
            <a:avLst/>
          </a:prstGeom>
          <a:solidFill>
            <a:schemeClr val="tx1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90905" y="5126355"/>
            <a:ext cx="10483850" cy="946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2.</a:t>
            </a:r>
            <a:r>
              <a:rPr lang="zh-CN" altLang="en-US"/>
              <a:t>日本签证无需预约时间，如遇出访时间较为紧张的团组，签证材料可由市外办与省外办沟通选择自送自取</a:t>
            </a:r>
            <a:r>
              <a:rPr lang="zh-CN"/>
              <a:t>（需早上</a:t>
            </a:r>
            <a:r>
              <a:rPr lang="en-US" altLang="zh-CN"/>
              <a:t>8</a:t>
            </a:r>
            <a:r>
              <a:rPr lang="zh-CN" altLang="en-US"/>
              <a:t>：</a:t>
            </a:r>
            <a:r>
              <a:rPr lang="en-US" altLang="zh-CN"/>
              <a:t>30</a:t>
            </a:r>
            <a:r>
              <a:rPr lang="zh-CN" altLang="en-US"/>
              <a:t>前送至</a:t>
            </a:r>
            <a:r>
              <a:rPr lang="zh-CN" altLang="en-US"/>
              <a:t>江苏省签证服务中心上海部：上海市黄浦区打浦路</a:t>
            </a:r>
            <a:r>
              <a:rPr lang="en-US" altLang="zh-CN"/>
              <a:t>15</a:t>
            </a:r>
            <a:r>
              <a:rPr lang="zh-CN" altLang="en-US"/>
              <a:t>号中港汇</a:t>
            </a:r>
            <a:r>
              <a:rPr lang="en-US" altLang="zh-CN"/>
              <a:t>3001</a:t>
            </a:r>
            <a:r>
              <a:rPr lang="zh-CN" altLang="en-US"/>
              <a:t>室</a:t>
            </a:r>
            <a:r>
              <a:rPr lang="zh-CN" altLang="en-US"/>
              <a:t>）</a:t>
            </a:r>
            <a:endParaRPr lang="zh-CN" altLang="en-US"/>
          </a:p>
        </p:txBody>
      </p:sp>
    </p:spTree>
    <p:custDataLst>
      <p:tags r:id="rId11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因公签证材料</a:t>
            </a:r>
            <a:r>
              <a:rPr lang="zh-CN" altLang="en-US" b="1">
                <a:latin typeface="PingFang SC Semibold" panose="020B0400000000000000" charset="-122"/>
                <a:ea typeface="PingFang SC Semibold" panose="020B0400000000000000" charset="-122"/>
                <a:sym typeface="+mn-ea"/>
              </a:rPr>
              <a:t>注意事项</a:t>
            </a:r>
            <a:endParaRPr lang="zh-CN" altLang="en-US" b="1">
              <a:latin typeface="PingFang SC Semibold" panose="020B0400000000000000" charset="-122"/>
              <a:ea typeface="PingFang SC Semibold" panose="020B0400000000000000" charset="-122"/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08330" y="1313815"/>
            <a:ext cx="11303000" cy="5380990"/>
          </a:xfrm>
        </p:spPr>
        <p:txBody>
          <a:bodyPr>
            <a:normAutofit fontScale="25000"/>
          </a:bodyPr>
          <a:p>
            <a:pPr marL="0" indent="0">
              <a:buNone/>
            </a:pPr>
            <a:r>
              <a:rPr lang="zh-CN" altLang="en-US" sz="8000">
                <a:latin typeface="微软雅黑" charset="0"/>
                <a:ea typeface="微软雅黑" charset="0"/>
              </a:rPr>
              <a:t>以申根国家（德国）为例</a:t>
            </a:r>
            <a:endParaRPr lang="zh-CN" altLang="en-US" sz="800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r>
              <a:rPr lang="zh-CN" altLang="en-US" sz="3500">
                <a:latin typeface="微软雅黑" charset="0"/>
                <a:ea typeface="微软雅黑" charset="0"/>
              </a:rPr>
              <a:t> </a:t>
            </a:r>
            <a:r>
              <a:rPr lang="zh-CN" altLang="en-US" sz="5600">
                <a:latin typeface="微软雅黑" charset="0"/>
                <a:ea typeface="微软雅黑" charset="0"/>
              </a:rPr>
              <a:t>因公申根签证申请原则：如出访两个及以上申根国家，以停留时间长的为主签国；若停留时间相同，以首入申根国作为主签国。</a:t>
            </a:r>
            <a:endParaRPr lang="zh-CN" altLang="en-US" sz="5600"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r>
              <a:rPr lang="zh-CN" altLang="en-US" sz="5600">
                <a:solidFill>
                  <a:schemeClr val="tx1"/>
                </a:solidFill>
                <a:latin typeface="微软雅黑" charset="0"/>
                <a:ea typeface="微软雅黑" charset="0"/>
              </a:rPr>
              <a:t>一、邀请函：</a:t>
            </a:r>
            <a:endParaRPr lang="zh-CN" altLang="en-US" sz="56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r>
              <a:rPr lang="en-US" altLang="zh-CN" sz="5600">
                <a:solidFill>
                  <a:schemeClr val="tx1"/>
                </a:solidFill>
                <a:latin typeface="微软雅黑" charset="0"/>
                <a:ea typeface="微软雅黑" charset="0"/>
              </a:rPr>
              <a:t>1.</a:t>
            </a:r>
            <a:r>
              <a:rPr lang="zh-CN" altLang="en-US" sz="5600">
                <a:solidFill>
                  <a:schemeClr val="tx1"/>
                </a:solidFill>
                <a:latin typeface="微软雅黑" charset="0"/>
                <a:ea typeface="微软雅黑" charset="0"/>
              </a:rPr>
              <a:t>发函单位需是外资企业，邀请人为外籍或已入外籍的华人或外企聘请的华人高管；</a:t>
            </a:r>
            <a:endParaRPr lang="zh-CN" altLang="en-US" sz="56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r>
              <a:rPr lang="en-US" altLang="zh-CN" sz="5600">
                <a:solidFill>
                  <a:schemeClr val="tx1"/>
                </a:solidFill>
                <a:latin typeface="微软雅黑" charset="0"/>
                <a:ea typeface="微软雅黑" charset="0"/>
              </a:rPr>
              <a:t>2.</a:t>
            </a:r>
            <a:r>
              <a:rPr lang="zh-CN" altLang="en-US" sz="5600">
                <a:solidFill>
                  <a:schemeClr val="tx1"/>
                </a:solidFill>
                <a:latin typeface="微软雅黑" charset="0"/>
                <a:ea typeface="微软雅黑" charset="0"/>
              </a:rPr>
              <a:t>出访时间要与任务批件一致；</a:t>
            </a:r>
            <a:endParaRPr lang="zh-CN" altLang="en-US" sz="56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r>
              <a:rPr lang="en-US" altLang="zh-CN" sz="5600">
                <a:solidFill>
                  <a:schemeClr val="tx1"/>
                </a:solidFill>
                <a:latin typeface="微软雅黑" charset="0"/>
                <a:ea typeface="微软雅黑" charset="0"/>
              </a:rPr>
              <a:t>3.</a:t>
            </a:r>
            <a:r>
              <a:rPr lang="zh-CN" altLang="en-US" sz="5600">
                <a:solidFill>
                  <a:schemeClr val="tx1"/>
                </a:solidFill>
                <a:latin typeface="微软雅黑" charset="0"/>
                <a:ea typeface="微软雅黑" charset="0"/>
              </a:rPr>
              <a:t>内容包含“江苏签证”德国签证邀请函要素，要符合发函单位国家的行文格式（省外办要求）；</a:t>
            </a:r>
            <a:endParaRPr lang="zh-CN" altLang="en-US" sz="56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r>
              <a:rPr lang="zh-CN" altLang="en-US" sz="5600">
                <a:solidFill>
                  <a:schemeClr val="tx1"/>
                </a:solidFill>
                <a:latin typeface="微软雅黑" charset="0"/>
                <a:ea typeface="微软雅黑" charset="0"/>
              </a:rPr>
              <a:t>二、派遣函：</a:t>
            </a:r>
            <a:endParaRPr lang="zh-CN" altLang="en-US" sz="56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r>
              <a:rPr lang="en-US" altLang="zh-CN" sz="5600">
                <a:solidFill>
                  <a:schemeClr val="tx1"/>
                </a:solidFill>
                <a:latin typeface="微软雅黑" charset="0"/>
                <a:ea typeface="微软雅黑" charset="0"/>
              </a:rPr>
              <a:t>1.</a:t>
            </a:r>
            <a:r>
              <a:rPr lang="zh-CN" altLang="en-US" sz="5600">
                <a:solidFill>
                  <a:schemeClr val="tx1"/>
                </a:solidFill>
                <a:latin typeface="微软雅黑" charset="0"/>
                <a:ea typeface="微软雅黑" charset="0"/>
              </a:rPr>
              <a:t>出行时间要与邀请函上时间一致；</a:t>
            </a:r>
            <a:endParaRPr lang="zh-CN" altLang="en-US" sz="56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r>
              <a:rPr lang="en-US" altLang="zh-CN" sz="5600">
                <a:solidFill>
                  <a:schemeClr val="tx1"/>
                </a:solidFill>
                <a:latin typeface="微软雅黑" charset="0"/>
                <a:ea typeface="微软雅黑" charset="0"/>
              </a:rPr>
              <a:t>2. </a:t>
            </a:r>
            <a:r>
              <a:rPr lang="zh-CN" altLang="en-US" sz="5600">
                <a:solidFill>
                  <a:schemeClr val="tx1"/>
                </a:solidFill>
                <a:latin typeface="微软雅黑" charset="0"/>
                <a:ea typeface="微软雅黑" charset="0"/>
              </a:rPr>
              <a:t>派遣身份均为对外职务，不可以党内身份申请出访；（涉及到职务的材料统一为对外身份）；</a:t>
            </a:r>
            <a:endParaRPr lang="zh-CN" altLang="en-US" sz="56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r>
              <a:rPr lang="en-US" altLang="zh-CN" sz="5600">
                <a:solidFill>
                  <a:schemeClr val="tx1"/>
                </a:solidFill>
                <a:latin typeface="微软雅黑" charset="0"/>
                <a:ea typeface="微软雅黑" charset="0"/>
              </a:rPr>
              <a:t>3.</a:t>
            </a:r>
            <a:r>
              <a:rPr lang="zh-CN" altLang="en-US" sz="5600">
                <a:solidFill>
                  <a:schemeClr val="tx1"/>
                </a:solidFill>
                <a:latin typeface="微软雅黑" charset="0"/>
                <a:ea typeface="微软雅黑" charset="0"/>
              </a:rPr>
              <a:t>派遣函证明人一般为出行人的上级（或</a:t>
            </a:r>
            <a:r>
              <a:rPr lang="zh-CN" altLang="en-US" sz="5600">
                <a:solidFill>
                  <a:schemeClr val="tx1"/>
                </a:solidFill>
                <a:latin typeface="微软雅黑" charset="0"/>
                <a:ea typeface="微软雅黑" charset="0"/>
              </a:rPr>
              <a:t>同级）；</a:t>
            </a:r>
            <a:endParaRPr lang="zh-CN" altLang="en-US" sz="5600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r>
              <a:rPr lang="en-US" altLang="zh-CN" sz="5600">
                <a:solidFill>
                  <a:schemeClr val="tx1"/>
                </a:solidFill>
                <a:latin typeface="微软雅黑" charset="0"/>
                <a:ea typeface="微软雅黑" charset="0"/>
              </a:rPr>
              <a:t>4.</a:t>
            </a:r>
            <a:r>
              <a:rPr lang="zh-CN" altLang="en-US" sz="5600">
                <a:solidFill>
                  <a:schemeClr val="tx1"/>
                </a:solidFill>
                <a:latin typeface="微软雅黑" charset="0"/>
                <a:ea typeface="微软雅黑" charset="0"/>
              </a:rPr>
              <a:t>单位公章盖五角星章，不可以是国徽章或镰刀斧头章；</a:t>
            </a:r>
            <a:endParaRPr lang="zh-CN" altLang="en-US" sz="5335">
              <a:solidFill>
                <a:schemeClr val="tx1"/>
              </a:solidFill>
              <a:latin typeface="微软雅黑" charset="0"/>
              <a:ea typeface="微软雅黑" charset="0"/>
            </a:endParaRPr>
          </a:p>
          <a:p>
            <a:pPr marL="0" indent="0">
              <a:buNone/>
            </a:pPr>
            <a:r>
              <a:rPr lang="en-US" altLang="zh-CN" sz="2665">
                <a:latin typeface="微软雅黑" charset="0"/>
                <a:ea typeface="微软雅黑" charset="0"/>
              </a:rPr>
              <a:t>                </a:t>
            </a:r>
            <a:endParaRPr lang="en-US" altLang="zh-CN" sz="2665">
              <a:latin typeface="微软雅黑" charset="0"/>
              <a:ea typeface="微软雅黑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idx="1"/>
            <p:custDataLst>
              <p:tags r:id="rId1"/>
            </p:custDataLst>
          </p:nvPr>
        </p:nvSpPr>
        <p:spPr>
          <a:xfrm>
            <a:off x="423545" y="913130"/>
            <a:ext cx="11413490" cy="5688330"/>
          </a:xfrm>
        </p:spPr>
        <p:txBody>
          <a:bodyPr>
            <a:noAutofit/>
          </a:bodyPr>
          <a:p>
            <a:r>
              <a:rPr lang="zh-CN" altLang="en-US" sz="1100">
                <a:solidFill>
                  <a:schemeClr val="tx1"/>
                </a:solidFill>
                <a:ea typeface="+mn-lt"/>
                <a:cs typeface="+mn-lt"/>
              </a:rPr>
              <a:t>为提高因公签证效率和工作质量，特结合近期工作整理了几点重要提醒，建议收藏保存以供参考：</a:t>
            </a:r>
            <a:endParaRPr lang="zh-CN" altLang="en-US" sz="1100">
              <a:solidFill>
                <a:schemeClr val="tx1"/>
              </a:solidFill>
              <a:ea typeface="+mn-lt"/>
              <a:cs typeface="+mn-lt"/>
            </a:endParaRPr>
          </a:p>
          <a:p>
            <a:r>
              <a:rPr lang="en-US" altLang="zh-CN" sz="1100">
                <a:solidFill>
                  <a:schemeClr val="tx1"/>
                </a:solidFill>
                <a:ea typeface="+mn-lt"/>
                <a:cs typeface="+mn-lt"/>
              </a:rPr>
              <a:t>       1</a:t>
            </a:r>
            <a:r>
              <a:rPr lang="zh-CN" altLang="en-US" sz="1100">
                <a:solidFill>
                  <a:schemeClr val="tx1"/>
                </a:solidFill>
                <a:ea typeface="+mn-lt"/>
                <a:cs typeface="+mn-lt"/>
              </a:rPr>
              <a:t>、通过</a:t>
            </a:r>
            <a:r>
              <a:rPr lang="en-US" altLang="zh-CN" sz="1100">
                <a:solidFill>
                  <a:schemeClr val="tx1"/>
                </a:solidFill>
                <a:ea typeface="+mn-lt"/>
                <a:cs typeface="+mn-lt"/>
              </a:rPr>
              <a:t>“</a:t>
            </a:r>
            <a:r>
              <a:rPr lang="zh-CN" altLang="en-US" sz="1100">
                <a:solidFill>
                  <a:schemeClr val="tx1"/>
                </a:solidFill>
                <a:ea typeface="+mn-lt"/>
                <a:cs typeface="+mn-lt"/>
              </a:rPr>
              <a:t>江苏省出国签证服务中心</a:t>
            </a:r>
            <a:r>
              <a:rPr lang="en-US" altLang="zh-CN" sz="1100">
                <a:solidFill>
                  <a:schemeClr val="tx1"/>
                </a:solidFill>
                <a:ea typeface="+mn-lt"/>
                <a:cs typeface="+mn-lt"/>
              </a:rPr>
              <a:t>”</a:t>
            </a:r>
            <a:r>
              <a:rPr lang="zh-CN" altLang="en-US" sz="1100">
                <a:solidFill>
                  <a:schemeClr val="tx1"/>
                </a:solidFill>
                <a:ea typeface="+mn-lt"/>
                <a:cs typeface="+mn-lt"/>
              </a:rPr>
              <a:t>（网址：</a:t>
            </a:r>
            <a:r>
              <a:rPr lang="en-US" altLang="zh-CN" sz="1100">
                <a:solidFill>
                  <a:schemeClr val="tx1"/>
                </a:solidFill>
                <a:ea typeface="+mn-lt"/>
                <a:cs typeface="+mn-lt"/>
              </a:rPr>
              <a:t>http://www.visajs.com/</a:t>
            </a:r>
            <a:r>
              <a:rPr lang="zh-CN" altLang="en-US" sz="1100">
                <a:solidFill>
                  <a:schemeClr val="tx1"/>
                </a:solidFill>
                <a:ea typeface="+mn-lt"/>
                <a:cs typeface="+mn-lt"/>
              </a:rPr>
              <a:t>）网站的</a:t>
            </a:r>
            <a:r>
              <a:rPr lang="en-US" altLang="zh-CN" sz="1100">
                <a:solidFill>
                  <a:schemeClr val="tx1"/>
                </a:solidFill>
                <a:ea typeface="+mn-lt"/>
                <a:cs typeface="+mn-lt"/>
              </a:rPr>
              <a:t>“</a:t>
            </a:r>
            <a:r>
              <a:rPr lang="zh-CN" altLang="en-US" sz="1100">
                <a:solidFill>
                  <a:schemeClr val="tx1"/>
                </a:solidFill>
                <a:ea typeface="+mn-lt"/>
                <a:cs typeface="+mn-lt"/>
              </a:rPr>
              <a:t>各国因公签证要求</a:t>
            </a:r>
            <a:r>
              <a:rPr lang="en-US" altLang="zh-CN" sz="1100">
                <a:solidFill>
                  <a:schemeClr val="tx1"/>
                </a:solidFill>
                <a:ea typeface="+mn-lt"/>
                <a:cs typeface="+mn-lt"/>
              </a:rPr>
              <a:t>”</a:t>
            </a:r>
            <a:r>
              <a:rPr lang="zh-CN" altLang="en-US" sz="1100">
                <a:solidFill>
                  <a:schemeClr val="tx1"/>
                </a:solidFill>
                <a:ea typeface="+mn-lt"/>
                <a:cs typeface="+mn-lt"/>
              </a:rPr>
              <a:t>栏目查询各国签证要求并准备签证材料，使领馆网站上对外公布的签证要求针对因私签证，和因公的材料要求不一定相同；</a:t>
            </a:r>
            <a:endParaRPr lang="zh-CN" altLang="en-US" sz="1100">
              <a:solidFill>
                <a:schemeClr val="tx1"/>
              </a:solidFill>
              <a:ea typeface="+mn-lt"/>
              <a:cs typeface="+mn-lt"/>
            </a:endParaRPr>
          </a:p>
          <a:p>
            <a:r>
              <a:rPr lang="en-US" altLang="zh-CN" sz="1100">
                <a:solidFill>
                  <a:schemeClr val="tx1"/>
                </a:solidFill>
                <a:ea typeface="+mn-lt"/>
                <a:cs typeface="+mn-lt"/>
              </a:rPr>
              <a:t>       2</a:t>
            </a:r>
            <a:r>
              <a:rPr lang="zh-CN" altLang="en-US" sz="1100">
                <a:solidFill>
                  <a:schemeClr val="tx1"/>
                </a:solidFill>
                <a:ea typeface="+mn-lt"/>
                <a:cs typeface="+mn-lt"/>
              </a:rPr>
              <a:t>、组团之初要提前对照签证要求，重点查看请示内容中有没有需要提前注意或规避的内容。比如邀请函，有的国家要求注明具体日程，有的要提供护照号码，和外方对接时要做好心中有数，避免重复联系邀请函；又比如，有的国家要求提供组织机构代码复印件，若有团员真实身份敏感不适合对外或单位无法提供组织机构代码证，就要考虑更换对外身份；</a:t>
            </a:r>
            <a:endParaRPr lang="zh-CN" altLang="en-US" sz="1100">
              <a:solidFill>
                <a:schemeClr val="tx1"/>
              </a:solidFill>
              <a:ea typeface="+mn-lt"/>
              <a:cs typeface="+mn-lt"/>
            </a:endParaRPr>
          </a:p>
          <a:p>
            <a:r>
              <a:rPr lang="en-US" altLang="zh-CN" sz="1100">
                <a:solidFill>
                  <a:schemeClr val="tx1"/>
                </a:solidFill>
                <a:ea typeface="+mn-lt"/>
                <a:cs typeface="+mn-lt"/>
              </a:rPr>
              <a:t>       3</a:t>
            </a:r>
            <a:r>
              <a:rPr lang="zh-CN" altLang="en-US" sz="1100">
                <a:solidFill>
                  <a:schemeClr val="tx1"/>
                </a:solidFill>
                <a:ea typeface="+mn-lt"/>
                <a:cs typeface="+mn-lt"/>
              </a:rPr>
              <a:t>、不得随意变更出访行程。一方面，违反外事出访纪律，另一方面，若出访国为互免、电子签等需开具出境证明的国家，一旦改变行程，将导致出境证明无法使用；</a:t>
            </a:r>
            <a:endParaRPr lang="zh-CN" altLang="en-US" sz="1100">
              <a:solidFill>
                <a:schemeClr val="tx1"/>
              </a:solidFill>
              <a:ea typeface="+mn-lt"/>
              <a:cs typeface="+mn-lt"/>
            </a:endParaRPr>
          </a:p>
          <a:p>
            <a:r>
              <a:rPr lang="en-US" altLang="zh-CN" sz="1100">
                <a:solidFill>
                  <a:schemeClr val="tx1"/>
                </a:solidFill>
                <a:ea typeface="+mn-lt"/>
                <a:cs typeface="+mn-lt"/>
              </a:rPr>
              <a:t>       4</a:t>
            </a:r>
            <a:r>
              <a:rPr lang="zh-CN" altLang="en-US" sz="1100">
                <a:solidFill>
                  <a:schemeClr val="tx1"/>
                </a:solidFill>
                <a:ea typeface="+mn-lt"/>
                <a:cs typeface="+mn-lt"/>
              </a:rPr>
              <a:t>、申根国材料要注意：（</a:t>
            </a:r>
            <a:r>
              <a:rPr lang="en-US" altLang="zh-CN" sz="1100">
                <a:solidFill>
                  <a:schemeClr val="tx1"/>
                </a:solidFill>
                <a:ea typeface="+mn-lt"/>
                <a:cs typeface="+mn-lt"/>
              </a:rPr>
              <a:t>1</a:t>
            </a:r>
            <a:r>
              <a:rPr lang="zh-CN" altLang="en-US" sz="1100">
                <a:solidFill>
                  <a:schemeClr val="tx1"/>
                </a:solidFill>
                <a:ea typeface="+mn-lt"/>
                <a:cs typeface="+mn-lt"/>
              </a:rPr>
              <a:t>）签证时间指的抵离出访国（境）的时间，而非我国国境，各签证材料如签证表、邀请函、派遣函、行程单、机票订单、酒店订单中的时间节点务必要完全一致，（</a:t>
            </a:r>
            <a:r>
              <a:rPr lang="en-US" altLang="zh-CN" sz="1100">
                <a:solidFill>
                  <a:schemeClr val="tx1"/>
                </a:solidFill>
                <a:ea typeface="+mn-lt"/>
                <a:cs typeface="+mn-lt"/>
              </a:rPr>
              <a:t>2</a:t>
            </a:r>
            <a:r>
              <a:rPr lang="zh-CN" altLang="en-US" sz="1100">
                <a:solidFill>
                  <a:schemeClr val="tx1"/>
                </a:solidFill>
                <a:ea typeface="+mn-lt"/>
                <a:cs typeface="+mn-lt"/>
              </a:rPr>
              <a:t>）注意邀请函行文格式，致函对象可以是组团单位，也可以是被邀请人（一般为团长），不要直接致函给使领馆，（</a:t>
            </a:r>
            <a:r>
              <a:rPr lang="en-US" altLang="zh-CN" sz="1100">
                <a:solidFill>
                  <a:schemeClr val="tx1"/>
                </a:solidFill>
                <a:ea typeface="+mn-lt"/>
                <a:cs typeface="+mn-lt"/>
              </a:rPr>
              <a:t>3</a:t>
            </a:r>
            <a:r>
              <a:rPr lang="zh-CN" altLang="en-US" sz="1100">
                <a:solidFill>
                  <a:schemeClr val="tx1"/>
                </a:solidFill>
                <a:ea typeface="+mn-lt"/>
                <a:cs typeface="+mn-lt"/>
              </a:rPr>
              <a:t>）若同时出访申根两国，邀请函格式和内容务必不能雷同，（</a:t>
            </a:r>
            <a:r>
              <a:rPr lang="en-US" altLang="zh-CN" sz="1100">
                <a:solidFill>
                  <a:schemeClr val="tx1"/>
                </a:solidFill>
                <a:ea typeface="+mn-lt"/>
                <a:cs typeface="+mn-lt"/>
              </a:rPr>
              <a:t>4</a:t>
            </a:r>
            <a:r>
              <a:rPr lang="zh-CN" altLang="en-US" sz="1100">
                <a:solidFill>
                  <a:schemeClr val="tx1"/>
                </a:solidFill>
                <a:ea typeface="+mn-lt"/>
                <a:cs typeface="+mn-lt"/>
              </a:rPr>
              <a:t>）名单和行程定好建议尽早联系我预约录指纹时间，需填写指纹名单表（样式附后），如团员在</a:t>
            </a:r>
            <a:r>
              <a:rPr lang="en-US" altLang="zh-CN" sz="1100">
                <a:solidFill>
                  <a:schemeClr val="tx1"/>
                </a:solidFill>
                <a:ea typeface="+mn-lt"/>
                <a:cs typeface="+mn-lt"/>
              </a:rPr>
              <a:t>59</a:t>
            </a:r>
            <a:r>
              <a:rPr lang="zh-CN" altLang="en-US" sz="1100">
                <a:solidFill>
                  <a:schemeClr val="tx1"/>
                </a:solidFill>
                <a:ea typeface="+mn-lt"/>
                <a:cs typeface="+mn-lt"/>
              </a:rPr>
              <a:t>个月内录过申根指纹的请在是否录指纹栏填写</a:t>
            </a:r>
            <a:r>
              <a:rPr lang="en-US" altLang="zh-CN" sz="1100">
                <a:solidFill>
                  <a:schemeClr val="tx1"/>
                </a:solidFill>
                <a:ea typeface="+mn-lt"/>
                <a:cs typeface="+mn-lt"/>
              </a:rPr>
              <a:t>“</a:t>
            </a:r>
            <a:r>
              <a:rPr lang="zh-CN" altLang="en-US" sz="1100">
                <a:solidFill>
                  <a:schemeClr val="tx1"/>
                </a:solidFill>
                <a:ea typeface="+mn-lt"/>
                <a:cs typeface="+mn-lt"/>
              </a:rPr>
              <a:t>否</a:t>
            </a:r>
            <a:r>
              <a:rPr lang="en-US" altLang="zh-CN" sz="1100">
                <a:solidFill>
                  <a:schemeClr val="tx1"/>
                </a:solidFill>
                <a:ea typeface="+mn-lt"/>
                <a:cs typeface="+mn-lt"/>
              </a:rPr>
              <a:t>”</a:t>
            </a:r>
            <a:r>
              <a:rPr lang="zh-CN" altLang="en-US" sz="1100">
                <a:solidFill>
                  <a:schemeClr val="tx1"/>
                </a:solidFill>
                <a:ea typeface="+mn-lt"/>
                <a:cs typeface="+mn-lt"/>
              </a:rPr>
              <a:t>，特定国家指纹不互通的除外，一般签证要求中特殊情形会作说明，（</a:t>
            </a:r>
            <a:r>
              <a:rPr lang="en-US" altLang="zh-CN" sz="1100">
                <a:solidFill>
                  <a:schemeClr val="tx1"/>
                </a:solidFill>
                <a:ea typeface="+mn-lt"/>
                <a:cs typeface="+mn-lt"/>
              </a:rPr>
              <a:t>5</a:t>
            </a:r>
            <a:r>
              <a:rPr lang="zh-CN" altLang="en-US" sz="1100">
                <a:solidFill>
                  <a:schemeClr val="tx1"/>
                </a:solidFill>
                <a:ea typeface="+mn-lt"/>
                <a:cs typeface="+mn-lt"/>
              </a:rPr>
              <a:t>）希腊、瑞士要提供一套电子扫描材料，具体要求可提前联系我，（</a:t>
            </a:r>
            <a:r>
              <a:rPr lang="en-US" altLang="zh-CN" sz="1100">
                <a:solidFill>
                  <a:schemeClr val="tx1"/>
                </a:solidFill>
                <a:ea typeface="+mn-lt"/>
                <a:cs typeface="+mn-lt"/>
              </a:rPr>
              <a:t>6</a:t>
            </a:r>
            <a:r>
              <a:rPr lang="zh-CN" altLang="en-US" sz="1100">
                <a:solidFill>
                  <a:schemeClr val="tx1"/>
                </a:solidFill>
                <a:ea typeface="+mn-lt"/>
                <a:cs typeface="+mn-lt"/>
              </a:rPr>
              <a:t>）波兰目前按照要求材料均为团组自送领馆，自送前请来我处领取护照和照会，取签可选择团组成员本人自取或沪办代取两种方式，（</a:t>
            </a:r>
            <a:r>
              <a:rPr lang="en-US" altLang="zh-CN" sz="1100">
                <a:solidFill>
                  <a:schemeClr val="tx1"/>
                </a:solidFill>
                <a:ea typeface="+mn-lt"/>
                <a:cs typeface="+mn-lt"/>
              </a:rPr>
              <a:t>7</a:t>
            </a:r>
            <a:r>
              <a:rPr lang="zh-CN" altLang="en-US" sz="1100">
                <a:solidFill>
                  <a:schemeClr val="tx1"/>
                </a:solidFill>
                <a:ea typeface="+mn-lt"/>
                <a:cs typeface="+mn-lt"/>
              </a:rPr>
              <a:t>）签证材料须提前进馆，请于约定的录指纹日期前至少两个工作日来我处包签证材料；</a:t>
            </a:r>
            <a:endParaRPr lang="zh-CN" altLang="en-US" sz="1100">
              <a:solidFill>
                <a:schemeClr val="tx1"/>
              </a:solidFill>
              <a:ea typeface="+mn-lt"/>
              <a:cs typeface="+mn-lt"/>
            </a:endParaRPr>
          </a:p>
          <a:p>
            <a:r>
              <a:rPr lang="en-US" altLang="zh-CN" sz="1100">
                <a:solidFill>
                  <a:schemeClr val="tx1"/>
                </a:solidFill>
                <a:ea typeface="+mn-lt"/>
                <a:cs typeface="+mn-lt"/>
              </a:rPr>
              <a:t>       5</a:t>
            </a:r>
            <a:r>
              <a:rPr lang="zh-CN" altLang="en-US" sz="1100">
                <a:solidFill>
                  <a:schemeClr val="tx1"/>
                </a:solidFill>
                <a:ea typeface="+mn-lt"/>
                <a:cs typeface="+mn-lt"/>
              </a:rPr>
              <a:t>、目前，美国、加拿大、澳大利亚、新西兰、瑞士还需在省一体化系统中的</a:t>
            </a:r>
            <a:r>
              <a:rPr lang="en-US" altLang="zh-CN" sz="1100">
                <a:solidFill>
                  <a:schemeClr val="tx1"/>
                </a:solidFill>
                <a:ea typeface="+mn-lt"/>
                <a:cs typeface="+mn-lt"/>
              </a:rPr>
              <a:t>“</a:t>
            </a:r>
            <a:r>
              <a:rPr lang="zh-CN" altLang="en-US" sz="1100">
                <a:solidFill>
                  <a:schemeClr val="tx1"/>
                </a:solidFill>
                <a:ea typeface="+mn-lt"/>
                <a:cs typeface="+mn-lt"/>
              </a:rPr>
              <a:t>签证办理</a:t>
            </a:r>
            <a:r>
              <a:rPr lang="en-US" altLang="zh-CN" sz="1100">
                <a:solidFill>
                  <a:schemeClr val="tx1"/>
                </a:solidFill>
                <a:ea typeface="+mn-lt"/>
                <a:cs typeface="+mn-lt"/>
              </a:rPr>
              <a:t>”</a:t>
            </a:r>
            <a:r>
              <a:rPr lang="zh-CN" altLang="en-US" sz="1100">
                <a:solidFill>
                  <a:schemeClr val="tx1"/>
                </a:solidFill>
                <a:ea typeface="+mn-lt"/>
                <a:cs typeface="+mn-lt"/>
              </a:rPr>
              <a:t>模块同步上报签证材料，上传好请及时联系我。另美国现在为自行在网站上预约面谈时间和地点，面谈前准备好相关材料并提前到我处领护照；</a:t>
            </a:r>
            <a:endParaRPr lang="zh-CN" altLang="en-US" sz="1100">
              <a:solidFill>
                <a:schemeClr val="tx1"/>
              </a:solidFill>
              <a:ea typeface="+mn-lt"/>
              <a:cs typeface="+mn-lt"/>
            </a:endParaRPr>
          </a:p>
          <a:p>
            <a:r>
              <a:rPr lang="en-US" altLang="zh-CN" sz="1100">
                <a:solidFill>
                  <a:schemeClr val="tx1"/>
                </a:solidFill>
                <a:ea typeface="+mn-lt"/>
                <a:cs typeface="+mn-lt"/>
              </a:rPr>
              <a:t>       6</a:t>
            </a:r>
            <a:r>
              <a:rPr lang="zh-CN" altLang="en-US" sz="1100">
                <a:solidFill>
                  <a:schemeClr val="tx1"/>
                </a:solidFill>
                <a:ea typeface="+mn-lt"/>
                <a:cs typeface="+mn-lt"/>
              </a:rPr>
              <a:t>、团组准备的所有材料（外办出具照会除外）一律不得盖国徽章；</a:t>
            </a:r>
            <a:endParaRPr lang="zh-CN" altLang="en-US" sz="1100">
              <a:solidFill>
                <a:schemeClr val="tx1"/>
              </a:solidFill>
              <a:ea typeface="+mn-lt"/>
              <a:cs typeface="+mn-lt"/>
            </a:endParaRPr>
          </a:p>
          <a:p>
            <a:r>
              <a:rPr lang="en-US" altLang="zh-CN" sz="1100">
                <a:solidFill>
                  <a:schemeClr val="tx1"/>
                </a:solidFill>
                <a:ea typeface="+mn-lt"/>
                <a:cs typeface="+mn-lt"/>
              </a:rPr>
              <a:t>       7</a:t>
            </a:r>
            <a:r>
              <a:rPr lang="zh-CN" altLang="en-US" sz="1100">
                <a:solidFill>
                  <a:schemeClr val="tx1"/>
                </a:solidFill>
                <a:ea typeface="+mn-lt"/>
                <a:cs typeface="+mn-lt"/>
              </a:rPr>
              <a:t>、有些国家，如韩国、澳大利亚、新西兰等需办理电子签，务必注意出访前除护照外还须领取出境证明（外办开具），并按要求自行下载电子签确认书</a:t>
            </a:r>
            <a:r>
              <a:rPr lang="en-US" altLang="zh-CN" sz="1100">
                <a:solidFill>
                  <a:schemeClr val="tx1"/>
                </a:solidFill>
                <a:ea typeface="+mn-lt"/>
                <a:cs typeface="+mn-lt"/>
              </a:rPr>
              <a:t>/</a:t>
            </a:r>
            <a:r>
              <a:rPr lang="zh-CN" altLang="en-US" sz="1100">
                <a:solidFill>
                  <a:schemeClr val="tx1"/>
                </a:solidFill>
                <a:ea typeface="+mn-lt"/>
                <a:cs typeface="+mn-lt"/>
              </a:rPr>
              <a:t>电子签证信，出访时须一并携带；</a:t>
            </a:r>
            <a:endParaRPr lang="zh-CN" altLang="en-US" sz="1100">
              <a:solidFill>
                <a:schemeClr val="tx1"/>
              </a:solidFill>
              <a:ea typeface="+mn-lt"/>
              <a:cs typeface="+mn-lt"/>
            </a:endParaRPr>
          </a:p>
          <a:p>
            <a:r>
              <a:rPr lang="en-US" altLang="zh-CN" sz="1100">
                <a:solidFill>
                  <a:schemeClr val="tx1"/>
                </a:solidFill>
                <a:ea typeface="+mn-lt"/>
                <a:cs typeface="+mn-lt"/>
              </a:rPr>
              <a:t>       8</a:t>
            </a:r>
            <a:r>
              <a:rPr lang="zh-CN" altLang="en-US" sz="1100">
                <a:solidFill>
                  <a:schemeClr val="tx1"/>
                </a:solidFill>
                <a:ea typeface="+mn-lt"/>
                <a:cs typeface="+mn-lt"/>
              </a:rPr>
              <a:t>、偶有领馆签证错漏的情况，拿到护照请第一时间检查签证页，包括个人信息和签证有效期等，如有错误第一时间提出，在出发前完成修正。</a:t>
            </a:r>
            <a:endParaRPr lang="zh-CN" altLang="en-US" sz="1100">
              <a:solidFill>
                <a:schemeClr val="tx1"/>
              </a:solidFill>
              <a:ea typeface="+mn-lt"/>
              <a:cs typeface="+mn-lt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40665" y="329565"/>
            <a:ext cx="707009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3200"/>
              <a:t>江苏省外办关于签证办理的重要提醒</a:t>
            </a:r>
            <a:endParaRPr lang="zh-CN" altLang="en-US" sz="3200"/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  <p:tag name="TABLE_ENDDRAG_ORIGIN_RECT" val="863*360"/>
  <p:tag name="TABLE_ENDDRAG_RECT" val="47*117*863*360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3062</Words>
  <Application>WPS 文字</Application>
  <PresentationFormat>宽屏</PresentationFormat>
  <Paragraphs>138</Paragraphs>
  <Slides>8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8</vt:i4>
      </vt:variant>
      <vt:variant>
        <vt:lpstr>幻灯片标题</vt:lpstr>
      </vt:variant>
      <vt:variant>
        <vt:i4>8</vt:i4>
      </vt:variant>
    </vt:vector>
  </HeadingPairs>
  <TitlesOfParts>
    <vt:vector size="29" baseType="lpstr">
      <vt:lpstr>Arial</vt:lpstr>
      <vt:lpstr>宋体</vt:lpstr>
      <vt:lpstr>Wingdings</vt:lpstr>
      <vt:lpstr>Wingdings</vt:lpstr>
      <vt:lpstr>PingFang SC Semibold</vt:lpstr>
      <vt:lpstr>微软雅黑</vt:lpstr>
      <vt:lpstr>汉仪旗黑</vt:lpstr>
      <vt:lpstr>苹方-简</vt:lpstr>
      <vt:lpstr>微软雅黑</vt:lpstr>
      <vt:lpstr>宋体</vt:lpstr>
      <vt:lpstr>Arial Unicode MS</vt:lpstr>
      <vt:lpstr>汉仪书宋二KW</vt:lpstr>
      <vt:lpstr>WPS</vt:lpstr>
      <vt:lpstr>Word.Document.8</vt:lpstr>
      <vt:lpstr>Word.Document.8</vt:lpstr>
      <vt:lpstr>Word.Document.8</vt:lpstr>
      <vt:lpstr>Word.Document.8</vt:lpstr>
      <vt:lpstr>Package</vt:lpstr>
      <vt:lpstr>Package</vt:lpstr>
      <vt:lpstr>Package</vt:lpstr>
      <vt:lpstr>Package</vt:lpstr>
      <vt:lpstr>江苏省因公护照签证</vt:lpstr>
      <vt:lpstr>因公护照申办指南</vt:lpstr>
      <vt:lpstr>因公护照申办指南</vt:lpstr>
      <vt:lpstr>因公护照申办指南（南通地区）</vt:lpstr>
      <vt:lpstr>因公签证申办指南</vt:lpstr>
      <vt:lpstr>因公签证材料注意事项</vt:lpstr>
      <vt:lpstr>因公签证材料注意事项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_chestnut</cp:lastModifiedBy>
  <cp:revision>179</cp:revision>
  <dcterms:created xsi:type="dcterms:W3CDTF">2025-11-24T02:40:53Z</dcterms:created>
  <dcterms:modified xsi:type="dcterms:W3CDTF">2025-11-24T02:40:53Z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2052-12.1.23540.23540</vt:lpwstr>
  </property>
  <property fmtid="{D5CDD505-2E9C-101B-9397-08002B2CF9AE}" pid="3" name="ICV">
    <vt:lpwstr>00B8BAFEB6EF10733B991A69FF6F061C_41</vt:lpwstr>
  </property>
</Properties>
</file>