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80" r:id="rId6"/>
    <p:sldId id="281" r:id="rId7"/>
    <p:sldId id="285" r:id="rId8"/>
    <p:sldId id="283" r:id="rId9"/>
    <p:sldId id="286" r:id="rId10"/>
    <p:sldId id="287" r:id="rId11"/>
    <p:sldId id="262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  <p15:guide id="3" orient="horz" pos="3906" userDrawn="1">
          <p15:clr>
            <a:srgbClr val="A4A3A4"/>
          </p15:clr>
        </p15:guide>
        <p15:guide id="4" pos="415" userDrawn="1">
          <p15:clr>
            <a:srgbClr val="A4A3A4"/>
          </p15:clr>
        </p15:guide>
        <p15:guide id="5" pos="7265" userDrawn="1">
          <p15:clr>
            <a:srgbClr val="A4A3A4"/>
          </p15:clr>
        </p15:guide>
        <p15:guide id="6" orient="horz" pos="4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5D83"/>
    <a:srgbClr val="D2B08E"/>
    <a:srgbClr val="E5D1BD"/>
    <a:srgbClr val="5C819D"/>
    <a:srgbClr val="BE9D78"/>
    <a:srgbClr val="CCB194"/>
    <a:srgbClr val="2451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506" y="960"/>
      </p:cViewPr>
      <p:guideLst>
        <p:guide orient="horz" pos="2160"/>
        <p:guide pos="3842"/>
        <p:guide orient="horz" pos="3906"/>
        <p:guide pos="415"/>
        <p:guide pos="7265"/>
        <p:guide orient="horz" pos="4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31360-4846-4F13-94FF-13CC0CAFA3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7998-1738-47A5-80D3-F0ABC8FE4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31360-4846-4F13-94FF-13CC0CAFA3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7998-1738-47A5-80D3-F0ABC8FE4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31360-4846-4F13-94FF-13CC0CAFA3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7998-1738-47A5-80D3-F0ABC8FE4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31360-4846-4F13-94FF-13CC0CAFA3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7998-1738-47A5-80D3-F0ABC8FE4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31360-4846-4F13-94FF-13CC0CAFA3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7998-1738-47A5-80D3-F0ABC8FE4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31360-4846-4F13-94FF-13CC0CAFA3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7998-1738-47A5-80D3-F0ABC8FE4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31360-4846-4F13-94FF-13CC0CAFA3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7998-1738-47A5-80D3-F0ABC8FE4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31360-4846-4F13-94FF-13CC0CAFA3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7998-1738-47A5-80D3-F0ABC8FE4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31360-4846-4F13-94FF-13CC0CAFA3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7998-1738-47A5-80D3-F0ABC8FE4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31360-4846-4F13-94FF-13CC0CAFA3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7998-1738-47A5-80D3-F0ABC8FE4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31360-4846-4F13-94FF-13CC0CAFA3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7998-1738-47A5-80D3-F0ABC8FE4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31360-4846-4F13-94FF-13CC0CAFA3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07998-1738-47A5-80D3-F0ABC8FE4D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849120" y="2760345"/>
            <a:ext cx="83902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商务触达经验</a:t>
            </a:r>
            <a:r>
              <a:rPr lang="zh-CN" altLang="en-US" sz="80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分享</a:t>
            </a:r>
            <a:endParaRPr lang="zh-CN" altLang="en-US" sz="8000" dirty="0">
              <a:solidFill>
                <a:srgbClr val="24517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28950" y="1925799"/>
            <a:ext cx="61341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400" b="0" i="0" dirty="0">
                <a:solidFill>
                  <a:srgbClr val="295D83"/>
                </a:solidFill>
                <a:effectLst/>
                <a:latin typeface="Beirut" panose="00000600000000000000" charset="0"/>
              </a:rPr>
              <a:t>境外企业</a:t>
            </a:r>
            <a:r>
              <a:rPr lang="en-US" altLang="zh-CN" sz="4400" b="0" i="0" dirty="0">
                <a:solidFill>
                  <a:srgbClr val="295D83"/>
                </a:solidFill>
                <a:effectLst/>
                <a:latin typeface="Beirut" panose="00000600000000000000" charset="0"/>
              </a:rPr>
              <a:t>/</a:t>
            </a:r>
            <a:r>
              <a:rPr lang="zh-CN" altLang="en-US" sz="4400" b="0" i="0" dirty="0">
                <a:solidFill>
                  <a:srgbClr val="295D83"/>
                </a:solidFill>
                <a:effectLst/>
                <a:latin typeface="Beirut" panose="00000600000000000000" charset="0"/>
              </a:rPr>
              <a:t>个人</a:t>
            </a:r>
            <a:endParaRPr lang="zh-CN" altLang="en-US" sz="4400" b="0" i="0" dirty="0">
              <a:solidFill>
                <a:srgbClr val="295D83"/>
              </a:solidFill>
              <a:effectLst/>
              <a:latin typeface="Beirut" panose="00000600000000000000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18480" y="4283075"/>
            <a:ext cx="8274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rgbClr val="295D8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Penny</a:t>
            </a:r>
            <a:endParaRPr lang="en-US" sz="1600" dirty="0">
              <a:solidFill>
                <a:srgbClr val="295D83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421095" y="1074084"/>
            <a:ext cx="11332029" cy="56077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softEdge rad="355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95411" y="431800"/>
            <a:ext cx="11201179" cy="599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445192" y="2711057"/>
            <a:ext cx="3570514" cy="1435886"/>
            <a:chOff x="454659" y="997242"/>
            <a:chExt cx="3570514" cy="1435886"/>
          </a:xfrm>
        </p:grpSpPr>
        <p:sp>
          <p:nvSpPr>
            <p:cNvPr id="5" name="文本框 4"/>
            <p:cNvSpPr txBox="1"/>
            <p:nvPr/>
          </p:nvSpPr>
          <p:spPr>
            <a:xfrm>
              <a:off x="454659" y="997242"/>
              <a:ext cx="3570514" cy="1106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600" dirty="0">
                  <a:solidFill>
                    <a:srgbClr val="245172"/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目录</a:t>
              </a:r>
              <a:endParaRPr lang="zh-CN" altLang="en-US" sz="66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80931" y="2063796"/>
              <a:ext cx="33179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dirty="0">
                  <a:solidFill>
                    <a:srgbClr val="245172"/>
                  </a:solidFill>
                  <a:effectLst/>
                  <a:latin typeface="Beirut" panose="00000600000000000000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CONTENTS</a:t>
              </a:r>
              <a:endParaRPr lang="zh-CN" altLang="en-US" dirty="0">
                <a:solidFill>
                  <a:srgbClr val="245172"/>
                </a:solidFill>
                <a:latin typeface="Beirut" panose="00000600000000000000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38542" y="1100935"/>
            <a:ext cx="343535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295D83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阿里巴巴普惠体 R" panose="00020600040101010101" pitchFamily="18" charset="-122"/>
              </a:rPr>
              <a:t>流程</a:t>
            </a:r>
            <a:endParaRPr lang="zh-CN" altLang="en-US" sz="2800" dirty="0">
              <a:solidFill>
                <a:srgbClr val="295D83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38542" y="2445201"/>
            <a:ext cx="343535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295D83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阿里巴巴普惠体 R" panose="00020600040101010101" pitchFamily="18" charset="-122"/>
              </a:rPr>
              <a:t>要点</a:t>
            </a:r>
            <a:endParaRPr lang="zh-CN" altLang="en-US" sz="2800" dirty="0">
              <a:solidFill>
                <a:srgbClr val="295D83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47886" y="3780844"/>
            <a:ext cx="343535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295D83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阿里巴巴普惠体 R" panose="00020600040101010101" pitchFamily="18" charset="-122"/>
              </a:rPr>
              <a:t>技巧</a:t>
            </a:r>
            <a:endParaRPr lang="zh-CN" altLang="en-US" sz="2800" dirty="0">
              <a:solidFill>
                <a:srgbClr val="295D83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038361" y="5052719"/>
            <a:ext cx="343535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295D83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阿里巴巴普惠体 R" panose="00020600040101010101" pitchFamily="18" charset="-122"/>
              </a:rPr>
              <a:t>复盘</a:t>
            </a:r>
            <a:endParaRPr lang="zh-CN" altLang="en-US" sz="2800" dirty="0">
              <a:solidFill>
                <a:srgbClr val="295D83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172979" y="1013305"/>
            <a:ext cx="655782" cy="655782"/>
          </a:xfrm>
          <a:prstGeom prst="ellipse">
            <a:avLst/>
          </a:prstGeom>
          <a:solidFill>
            <a:srgbClr val="295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6172979" y="2348170"/>
            <a:ext cx="655782" cy="655782"/>
          </a:xfrm>
          <a:prstGeom prst="ellipse">
            <a:avLst/>
          </a:prstGeom>
          <a:solidFill>
            <a:srgbClr val="D2B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6182323" y="3678222"/>
            <a:ext cx="655782" cy="655782"/>
          </a:xfrm>
          <a:prstGeom prst="ellipse">
            <a:avLst/>
          </a:prstGeom>
          <a:solidFill>
            <a:srgbClr val="295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182323" y="5013088"/>
            <a:ext cx="655782" cy="655782"/>
          </a:xfrm>
          <a:prstGeom prst="ellipse">
            <a:avLst/>
          </a:prstGeom>
          <a:solidFill>
            <a:srgbClr val="D2B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163635" y="1101231"/>
            <a:ext cx="674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Beirut" panose="00000600000000000000" charset="0"/>
              </a:rPr>
              <a:t>01</a:t>
            </a:r>
            <a:endParaRPr lang="zh-CN" altLang="en-US" sz="2400" dirty="0">
              <a:solidFill>
                <a:schemeClr val="bg1"/>
              </a:solidFill>
              <a:latin typeface="Beirut" panose="00000600000000000000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63635" y="2445228"/>
            <a:ext cx="674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Beirut" panose="00000600000000000000" charset="0"/>
              </a:rPr>
              <a:t>02</a:t>
            </a:r>
            <a:endParaRPr lang="zh-CN" altLang="en-US" sz="2400" dirty="0">
              <a:solidFill>
                <a:schemeClr val="bg1"/>
              </a:solidFill>
              <a:latin typeface="Beirut" panose="00000600000000000000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72979" y="3775280"/>
            <a:ext cx="674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Beirut" panose="00000600000000000000" charset="0"/>
              </a:rPr>
              <a:t>03</a:t>
            </a:r>
            <a:endParaRPr lang="zh-CN" altLang="en-US" sz="2400" dirty="0">
              <a:solidFill>
                <a:schemeClr val="bg1"/>
              </a:solidFill>
              <a:latin typeface="Beirut" panose="00000600000000000000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172979" y="5106479"/>
            <a:ext cx="674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Beirut" panose="00000600000000000000" charset="0"/>
              </a:rPr>
              <a:t>04</a:t>
            </a:r>
            <a:endParaRPr lang="zh-CN" altLang="en-US" sz="2400" dirty="0">
              <a:solidFill>
                <a:schemeClr val="bg1"/>
              </a:solidFill>
              <a:latin typeface="Beirut" panose="0000060000000000000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92050" y="2829652"/>
            <a:ext cx="7807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流程</a:t>
            </a:r>
            <a:endParaRPr lang="zh-CN" altLang="en-US" sz="7200" dirty="0">
              <a:solidFill>
                <a:srgbClr val="24517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28950" y="1788088"/>
            <a:ext cx="61341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400" b="0" i="0" dirty="0">
                <a:solidFill>
                  <a:srgbClr val="295D83"/>
                </a:solidFill>
                <a:effectLst/>
                <a:latin typeface="Beirut" panose="00000600000000000000" charset="0"/>
              </a:rPr>
              <a:t>“ </a:t>
            </a:r>
            <a:r>
              <a:rPr lang="en-US" altLang="zh-CN" sz="4400" b="0" i="0" dirty="0">
                <a:solidFill>
                  <a:srgbClr val="295D83"/>
                </a:solidFill>
                <a:effectLst/>
                <a:latin typeface="Beirut" panose="00000600000000000000" charset="0"/>
              </a:rPr>
              <a:t>PART ONE</a:t>
            </a:r>
            <a:r>
              <a:rPr lang="zh-CN" altLang="en-US" sz="4400" b="0" i="0" dirty="0">
                <a:solidFill>
                  <a:srgbClr val="295D83"/>
                </a:solidFill>
                <a:effectLst/>
                <a:latin typeface="Beirut" panose="00000600000000000000" charset="0"/>
              </a:rPr>
              <a:t>”</a:t>
            </a:r>
            <a:endParaRPr lang="zh-CN" altLang="en-US" sz="4400" dirty="0">
              <a:solidFill>
                <a:srgbClr val="295D83"/>
              </a:solidFill>
              <a:latin typeface="Beirut" panose="0000060000000000000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V 形 1"/>
          <p:cNvSpPr/>
          <p:nvPr/>
        </p:nvSpPr>
        <p:spPr>
          <a:xfrm>
            <a:off x="581272" y="2979057"/>
            <a:ext cx="2815771" cy="899886"/>
          </a:xfrm>
          <a:prstGeom prst="chevron">
            <a:avLst/>
          </a:prstGeom>
          <a:solidFill>
            <a:srgbClr val="295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V 形 2"/>
          <p:cNvSpPr/>
          <p:nvPr/>
        </p:nvSpPr>
        <p:spPr>
          <a:xfrm>
            <a:off x="3092244" y="2979057"/>
            <a:ext cx="2815771" cy="899886"/>
          </a:xfrm>
          <a:prstGeom prst="chevron">
            <a:avLst/>
          </a:prstGeom>
          <a:solidFill>
            <a:srgbClr val="D2B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箭头: V 形 3"/>
          <p:cNvSpPr/>
          <p:nvPr/>
        </p:nvSpPr>
        <p:spPr>
          <a:xfrm>
            <a:off x="5603216" y="2979057"/>
            <a:ext cx="2815771" cy="899886"/>
          </a:xfrm>
          <a:prstGeom prst="chevron">
            <a:avLst/>
          </a:prstGeom>
          <a:solidFill>
            <a:srgbClr val="295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/>
          <p:cNvSpPr/>
          <p:nvPr/>
        </p:nvSpPr>
        <p:spPr>
          <a:xfrm>
            <a:off x="8114188" y="2979057"/>
            <a:ext cx="2815771" cy="899886"/>
          </a:xfrm>
          <a:prstGeom prst="chevron">
            <a:avLst/>
          </a:prstGeom>
          <a:solidFill>
            <a:srgbClr val="D2B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73503" y="4754417"/>
            <a:ext cx="3204310" cy="170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背景</a:t>
            </a: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调查</a:t>
            </a: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清晰</a:t>
            </a: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认知</a:t>
            </a: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行业</a:t>
            </a: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现状</a:t>
            </a: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案例呈现</a:t>
            </a:r>
            <a:endParaRPr lang="zh-CN" altLang="en-US" sz="1400" b="1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历史参考</a:t>
            </a:r>
            <a:endParaRPr lang="zh-CN" altLang="en-US" sz="1400" b="1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3503" y="4302720"/>
            <a:ext cx="170504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客户</a:t>
            </a:r>
            <a:r>
              <a:rPr lang="zh-CN" altLang="en-US" sz="24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需求</a:t>
            </a:r>
            <a:endParaRPr lang="zh-CN" altLang="en-US" sz="2400" dirty="0">
              <a:solidFill>
                <a:srgbClr val="24517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95447" y="4754417"/>
            <a:ext cx="320431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行业、主营</a:t>
            </a: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业务</a:t>
            </a: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国家政策</a:t>
            </a:r>
            <a:r>
              <a:rPr lang="en-US" altLang="zh-CN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、</a:t>
            </a: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经济情况</a:t>
            </a: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对华业务</a:t>
            </a: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数量</a:t>
            </a: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宣发</a:t>
            </a: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调性</a:t>
            </a: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95447" y="4302720"/>
            <a:ext cx="170504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匹配</a:t>
            </a:r>
            <a:r>
              <a:rPr lang="zh-CN" altLang="en-US" sz="24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程度</a:t>
            </a:r>
            <a:endParaRPr lang="zh-CN" altLang="en-US" sz="2400" dirty="0">
              <a:solidFill>
                <a:srgbClr val="24517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84475" y="1504672"/>
            <a:ext cx="320431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国家</a:t>
            </a: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关系</a:t>
            </a: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企业</a:t>
            </a: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体量</a:t>
            </a: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职能</a:t>
            </a: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部门</a:t>
            </a: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沟通</a:t>
            </a: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话术</a:t>
            </a: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84475" y="1052975"/>
            <a:ext cx="170504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查找</a:t>
            </a:r>
            <a:r>
              <a:rPr lang="zh-CN" altLang="en-US" sz="24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难度</a:t>
            </a:r>
            <a:endParaRPr lang="zh-CN" altLang="en-US" sz="2400" dirty="0">
              <a:solidFill>
                <a:srgbClr val="24517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406419" y="1504672"/>
            <a:ext cx="320431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伴手礼</a:t>
            </a: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意见反馈</a:t>
            </a: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database</a:t>
            </a:r>
            <a:endParaRPr lang="en-US" altLang="zh-CN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节假日</a:t>
            </a:r>
            <a:r>
              <a:rPr lang="zh-CN" altLang="en-US" sz="14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问候</a:t>
            </a: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406419" y="1052975"/>
            <a:ext cx="170504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afterwork</a:t>
            </a:r>
            <a:endParaRPr lang="en-US" altLang="zh-CN" sz="2400" dirty="0">
              <a:solidFill>
                <a:srgbClr val="24517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81272" y="4012293"/>
            <a:ext cx="0" cy="2017486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5603216" y="4012293"/>
            <a:ext cx="0" cy="2017486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3092244" y="847271"/>
            <a:ext cx="0" cy="2017486"/>
          </a:xfrm>
          <a:prstGeom prst="straightConnector1">
            <a:avLst/>
          </a:prstGeom>
          <a:ln w="25400">
            <a:solidFill>
              <a:srgbClr val="D2B08E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8114188" y="847271"/>
            <a:ext cx="0" cy="2017486"/>
          </a:xfrm>
          <a:prstGeom prst="straightConnector1">
            <a:avLst/>
          </a:prstGeom>
          <a:ln w="25400">
            <a:solidFill>
              <a:srgbClr val="D2B08E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8794807" y="3244334"/>
            <a:ext cx="1733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Beirut" panose="00000600000000000000" charset="0"/>
              </a:rPr>
              <a:t>ADD TITLE</a:t>
            </a:r>
            <a:endParaRPr lang="zh-CN" altLang="en-US" dirty="0">
              <a:solidFill>
                <a:schemeClr val="bg1"/>
              </a:solidFill>
              <a:latin typeface="Beirut" panose="00000600000000000000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3070" y="156845"/>
            <a:ext cx="5601335" cy="640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0-1</a:t>
            </a:r>
            <a:r>
              <a:rPr lang="zh-CN" altLang="en-US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洽谈商务的</a:t>
            </a:r>
            <a:r>
              <a:rPr lang="zh-CN" altLang="en-US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逻辑</a:t>
            </a:r>
            <a:endParaRPr lang="zh-CN" altLang="en-US" sz="2800" dirty="0">
              <a:solidFill>
                <a:srgbClr val="24517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1797050" y="1397000"/>
            <a:ext cx="1485900" cy="46609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92050" y="2969352"/>
            <a:ext cx="7807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要点</a:t>
            </a:r>
            <a:r>
              <a:rPr lang="en-US" altLang="zh-CN" sz="72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、</a:t>
            </a:r>
            <a:r>
              <a:rPr lang="zh-CN" altLang="en-US" sz="72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技巧</a:t>
            </a:r>
            <a:r>
              <a:rPr lang="en-US" altLang="zh-CN" sz="72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、</a:t>
            </a:r>
            <a:r>
              <a:rPr lang="zh-CN" altLang="en-US" sz="72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复盘</a:t>
            </a:r>
            <a:endParaRPr lang="zh-CN" altLang="en-US" sz="7200" dirty="0">
              <a:solidFill>
                <a:srgbClr val="24517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28950" y="1788088"/>
            <a:ext cx="61341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400" b="0" i="0" dirty="0">
                <a:solidFill>
                  <a:srgbClr val="295D83"/>
                </a:solidFill>
                <a:effectLst/>
                <a:latin typeface="Beirut" panose="00000600000000000000" charset="0"/>
              </a:rPr>
              <a:t>“ </a:t>
            </a:r>
            <a:r>
              <a:rPr lang="en-US" altLang="zh-CN" sz="4400" b="0" i="0" dirty="0">
                <a:solidFill>
                  <a:srgbClr val="295D83"/>
                </a:solidFill>
                <a:effectLst/>
                <a:latin typeface="Beirut" panose="00000600000000000000" charset="0"/>
              </a:rPr>
              <a:t>PART TWO</a:t>
            </a:r>
            <a:r>
              <a:rPr lang="zh-CN" altLang="en-US" sz="4400" b="0" i="0" dirty="0">
                <a:solidFill>
                  <a:srgbClr val="295D83"/>
                </a:solidFill>
                <a:effectLst/>
                <a:latin typeface="Beirut" panose="00000600000000000000" charset="0"/>
              </a:rPr>
              <a:t>”</a:t>
            </a:r>
            <a:endParaRPr lang="zh-CN" altLang="en-US" sz="4400" dirty="0">
              <a:solidFill>
                <a:srgbClr val="295D83"/>
              </a:solidFill>
              <a:latin typeface="Beirut" panose="0000060000000000000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730175" y="1052552"/>
            <a:ext cx="320431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3070" y="156845"/>
            <a:ext cx="5601335" cy="640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如何</a:t>
            </a:r>
            <a:r>
              <a:rPr lang="zh-CN" altLang="en-US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联系目标企业</a:t>
            </a:r>
            <a:r>
              <a:rPr lang="en-US" altLang="zh-CN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/</a:t>
            </a:r>
            <a:r>
              <a:rPr lang="zh-CN" altLang="en-US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机构</a:t>
            </a:r>
            <a:r>
              <a:rPr lang="en-US" altLang="zh-CN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？</a:t>
            </a:r>
            <a:endParaRPr lang="en-US" altLang="zh-CN" sz="2800" dirty="0">
              <a:solidFill>
                <a:srgbClr val="24517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8555" y="796925"/>
            <a:ext cx="7374255" cy="5848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730175" y="1052552"/>
            <a:ext cx="320431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3070" y="156845"/>
            <a:ext cx="5601335" cy="640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如何</a:t>
            </a:r>
            <a:r>
              <a:rPr lang="zh-CN" altLang="en-US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联系目标企业</a:t>
            </a:r>
            <a:r>
              <a:rPr lang="en-US" altLang="zh-CN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/</a:t>
            </a:r>
            <a:r>
              <a:rPr lang="zh-CN" altLang="en-US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机构</a:t>
            </a:r>
            <a:r>
              <a:rPr lang="en-US" altLang="zh-CN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？</a:t>
            </a:r>
            <a:endParaRPr lang="en-US" altLang="zh-CN" sz="2800" dirty="0">
              <a:solidFill>
                <a:srgbClr val="24517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pic>
        <p:nvPicPr>
          <p:cNvPr id="9" name="图片 8" descr="基础样式"/>
          <p:cNvPicPr>
            <a:picLocks noChangeAspect="1"/>
          </p:cNvPicPr>
          <p:nvPr/>
        </p:nvPicPr>
        <p:blipFill>
          <a:blip r:embed="rId1"/>
          <a:srcRect l="23353" t="34694" b="50153"/>
          <a:stretch>
            <a:fillRect/>
          </a:stretch>
        </p:blipFill>
        <p:spPr>
          <a:xfrm>
            <a:off x="2063115" y="2525395"/>
            <a:ext cx="6931660" cy="23025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730175" y="1052552"/>
            <a:ext cx="320431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3070" y="156845"/>
            <a:ext cx="5601335" cy="640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如何</a:t>
            </a:r>
            <a:r>
              <a:rPr lang="zh-CN" altLang="en-US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联系目标企业</a:t>
            </a:r>
            <a:r>
              <a:rPr lang="en-US" altLang="zh-CN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/</a:t>
            </a:r>
            <a:r>
              <a:rPr lang="zh-CN" altLang="en-US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机构</a:t>
            </a:r>
            <a:r>
              <a:rPr lang="en-US" altLang="zh-CN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？</a:t>
            </a:r>
            <a:endParaRPr lang="en-US" altLang="zh-CN" sz="2800" dirty="0">
              <a:solidFill>
                <a:srgbClr val="24517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pic>
        <p:nvPicPr>
          <p:cNvPr id="2" name="图片 1" descr="基础样式"/>
          <p:cNvPicPr>
            <a:picLocks noChangeAspect="1"/>
          </p:cNvPicPr>
          <p:nvPr/>
        </p:nvPicPr>
        <p:blipFill>
          <a:blip r:embed="rId1"/>
          <a:srcRect l="24315" t="50000" b="20759"/>
          <a:stretch>
            <a:fillRect/>
          </a:stretch>
        </p:blipFill>
        <p:spPr>
          <a:xfrm>
            <a:off x="1456690" y="889000"/>
            <a:ext cx="8554085" cy="5553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730175" y="1052552"/>
            <a:ext cx="320431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3070" y="156845"/>
            <a:ext cx="5601335" cy="640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如何</a:t>
            </a:r>
            <a:r>
              <a:rPr lang="zh-CN" altLang="en-US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联系目标企业</a:t>
            </a:r>
            <a:r>
              <a:rPr lang="en-US" altLang="zh-CN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/</a:t>
            </a:r>
            <a:r>
              <a:rPr lang="zh-CN" altLang="en-US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机构</a:t>
            </a:r>
            <a:r>
              <a:rPr lang="en-US" altLang="zh-CN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？</a:t>
            </a:r>
            <a:endParaRPr lang="en-US" altLang="zh-CN" sz="2800" dirty="0">
              <a:solidFill>
                <a:srgbClr val="24517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pic>
        <p:nvPicPr>
          <p:cNvPr id="2" name="图片 1" descr="基础样式"/>
          <p:cNvPicPr>
            <a:picLocks noChangeAspect="1"/>
          </p:cNvPicPr>
          <p:nvPr/>
        </p:nvPicPr>
        <p:blipFill>
          <a:blip r:embed="rId1"/>
          <a:srcRect l="22934" t="79037"/>
          <a:stretch>
            <a:fillRect/>
          </a:stretch>
        </p:blipFill>
        <p:spPr>
          <a:xfrm>
            <a:off x="1104900" y="1466850"/>
            <a:ext cx="9582785" cy="43795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821690"/>
            <a:ext cx="11921490" cy="4405630"/>
            <a:chOff x="0" y="1294"/>
            <a:chExt cx="18774" cy="6938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rcRect b="18655"/>
            <a:stretch>
              <a:fillRect/>
            </a:stretch>
          </p:blipFill>
          <p:spPr>
            <a:xfrm>
              <a:off x="0" y="1466"/>
              <a:ext cx="9629" cy="6767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6" y="1294"/>
              <a:ext cx="9629" cy="6939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433070" y="156845"/>
            <a:ext cx="5601335" cy="640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800" dirty="0">
                <a:solidFill>
                  <a:srgbClr val="245172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案例</a:t>
            </a:r>
            <a:endParaRPr lang="zh-CN" altLang="en-US" sz="2800" dirty="0">
              <a:solidFill>
                <a:srgbClr val="245172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23190" y="2390140"/>
            <a:ext cx="9395460" cy="501650"/>
            <a:chOff x="194" y="3764"/>
            <a:chExt cx="14796" cy="790"/>
          </a:xfrm>
        </p:grpSpPr>
        <p:sp>
          <p:nvSpPr>
            <p:cNvPr id="17" name="矩形 16"/>
            <p:cNvSpPr/>
            <p:nvPr/>
          </p:nvSpPr>
          <p:spPr>
            <a:xfrm>
              <a:off x="194" y="3924"/>
              <a:ext cx="5670" cy="63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9320" y="3764"/>
              <a:ext cx="5670" cy="63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0" name="直接箭头连接符 19"/>
          <p:cNvCxnSpPr/>
          <p:nvPr/>
        </p:nvCxnSpPr>
        <p:spPr>
          <a:xfrm>
            <a:off x="4272915" y="1253490"/>
            <a:ext cx="0" cy="9334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23190" y="4504690"/>
            <a:ext cx="11798300" cy="64008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1" grpId="1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WPS 文字</Application>
  <PresentationFormat>宽屏</PresentationFormat>
  <Paragraphs>77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思源宋体 Heavy</vt:lpstr>
      <vt:lpstr>Beirut</vt:lpstr>
      <vt:lpstr>阿里巴巴普惠体 R</vt:lpstr>
      <vt:lpstr>苹方-简</vt:lpstr>
      <vt:lpstr>微软雅黑</vt:lpstr>
      <vt:lpstr>Times New Roman</vt:lpstr>
      <vt:lpstr>Arial Bold</vt:lpstr>
      <vt:lpstr>等线</vt:lpstr>
      <vt:lpstr>宋体</vt:lpstr>
      <vt:lpstr>Arial Unicode MS</vt:lpstr>
      <vt:lpstr>等线 Light</vt:lpstr>
      <vt:lpstr>Calibri</vt:lpstr>
      <vt:lpstr>汉仪书宋二KW</vt:lpstr>
      <vt:lpstr>阿里巴巴普惠体 R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123</dc:creator>
  <cp:lastModifiedBy>Jingshan</cp:lastModifiedBy>
  <cp:revision>16</cp:revision>
  <dcterms:created xsi:type="dcterms:W3CDTF">2025-06-09T14:32:48Z</dcterms:created>
  <dcterms:modified xsi:type="dcterms:W3CDTF">2025-06-09T14:32:48Z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2052-7.4.1.8983</vt:lpwstr>
  </property>
  <property fmtid="{D5CDD505-2E9C-101B-9397-08002B2CF9AE}" pid="3" name="ICV">
    <vt:lpwstr>4BB4E79A4A21FF1090F04668AC522D04_43</vt:lpwstr>
  </property>
  <property fmtid="{D5CDD505-2E9C-101B-9397-08002B2CF9AE}" pid="4" name="KSOTemplateUUID">
    <vt:lpwstr>v1.0_mb_Dr/T9MDekzmBcbIraXETWg==</vt:lpwstr>
  </property>
</Properties>
</file>